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136" r:id="rId1"/>
  </p:sldMasterIdLst>
  <p:notesMasterIdLst>
    <p:notesMasterId r:id="rId25"/>
  </p:notesMasterIdLst>
  <p:sldIdLst>
    <p:sldId id="256" r:id="rId2"/>
    <p:sldId id="276" r:id="rId3"/>
    <p:sldId id="277" r:id="rId4"/>
    <p:sldId id="279" r:id="rId5"/>
    <p:sldId id="278" r:id="rId6"/>
    <p:sldId id="258" r:id="rId7"/>
    <p:sldId id="259" r:id="rId8"/>
    <p:sldId id="260" r:id="rId9"/>
    <p:sldId id="261" r:id="rId10"/>
    <p:sldId id="262" r:id="rId11"/>
    <p:sldId id="263" r:id="rId12"/>
    <p:sldId id="275" r:id="rId13"/>
    <p:sldId id="264" r:id="rId14"/>
    <p:sldId id="265" r:id="rId15"/>
    <p:sldId id="266" r:id="rId16"/>
    <p:sldId id="267" r:id="rId17"/>
    <p:sldId id="268" r:id="rId18"/>
    <p:sldId id="269" r:id="rId19"/>
    <p:sldId id="270" r:id="rId20"/>
    <p:sldId id="271" r:id="rId21"/>
    <p:sldId id="272" r:id="rId22"/>
    <p:sldId id="273"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AF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32"/>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BB44E1-B4AB-4AF6-A02A-49A9D82D0D60}" type="datetimeFigureOut">
              <a:rPr lang="fr-FR" smtClean="0"/>
              <a:t>19/12/2025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AB70A3-4B2B-454E-AEBB-D85B83025C81}" type="slidenum">
              <a:rPr lang="fr-FR" smtClean="0"/>
              <a:t>‹N°›</a:t>
            </a:fld>
            <a:endParaRPr lang="fr-FR"/>
          </a:p>
        </p:txBody>
      </p:sp>
    </p:spTree>
    <p:extLst>
      <p:ext uri="{BB962C8B-B14F-4D97-AF65-F5344CB8AC3E}">
        <p14:creationId xmlns:p14="http://schemas.microsoft.com/office/powerpoint/2010/main" val="3253850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059D9CCC-1F8D-49EA-9296-47E39072D2B4}" type="datetime1">
              <a:rPr lang="fr-FR" smtClean="0"/>
              <a:t>19/12/2025</a:t>
            </a:fld>
            <a:endParaRPr lang="fr-F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fr-F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CA0101B-2B22-AF40-9AC3-C0A9D8EDFEB1}" type="slidenum">
              <a:rPr lang="fr-FR" smtClean="0"/>
              <a:t>‹N°›</a:t>
            </a:fld>
            <a:endParaRPr lang="fr-FR"/>
          </a:p>
        </p:txBody>
      </p:sp>
    </p:spTree>
    <p:extLst>
      <p:ext uri="{BB962C8B-B14F-4D97-AF65-F5344CB8AC3E}">
        <p14:creationId xmlns:p14="http://schemas.microsoft.com/office/powerpoint/2010/main" val="4230093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fr-FR"/>
              <a:t>Modifiez le style du titre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E97308D-BA25-4C4C-8FC0-F3F07F07A48C}" type="datetime1">
              <a:rPr lang="fr-FR" smtClean="0"/>
              <a:t>19/12/2025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0558300" y="5956137"/>
            <a:ext cx="1052508" cy="365125"/>
          </a:xfrm>
        </p:spPr>
        <p:txBody>
          <a:bodyPr/>
          <a:lstStyle/>
          <a:p>
            <a:fld id="{5CA0101B-2B22-AF40-9AC3-C0A9D8EDFEB1}" type="slidenum">
              <a:rPr lang="fr-FR" smtClean="0"/>
              <a:t>‹N°›</a:t>
            </a:fld>
            <a:endParaRPr lang="fr-FR"/>
          </a:p>
        </p:txBody>
      </p:sp>
    </p:spTree>
    <p:extLst>
      <p:ext uri="{BB962C8B-B14F-4D97-AF65-F5344CB8AC3E}">
        <p14:creationId xmlns:p14="http://schemas.microsoft.com/office/powerpoint/2010/main" val="3077771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fr-FR"/>
              <a:t>Modifiez le style du titre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2A4605DF-9AFB-413D-AF8E-E741152B8BAA}" type="datetime1">
              <a:rPr lang="fr-FR" smtClean="0"/>
              <a:t>19/12/2025</a:t>
            </a:fld>
            <a:endParaRPr lang="fr-F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fr-F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CA0101B-2B22-AF40-9AC3-C0A9D8EDFEB1}" type="slidenum">
              <a:rPr lang="fr-FR" smtClean="0"/>
              <a:t>‹N°›</a:t>
            </a:fld>
            <a:endParaRPr lang="fr-FR"/>
          </a:p>
        </p:txBody>
      </p:sp>
    </p:spTree>
    <p:extLst>
      <p:ext uri="{BB962C8B-B14F-4D97-AF65-F5344CB8AC3E}">
        <p14:creationId xmlns:p14="http://schemas.microsoft.com/office/powerpoint/2010/main" val="1934015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fr-FR"/>
              <a:t>Modifiez le style du titre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1DDF815-C85C-4E33-A7DD-5DF163A7D4C7}" type="datetime1">
              <a:rPr lang="fr-FR" smtClean="0"/>
              <a:t>19/12/2025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CA0101B-2B22-AF40-9AC3-C0A9D8EDFEB1}" type="slidenum">
              <a:rPr lang="fr-FR" smtClean="0"/>
              <a:t>‹N°›</a:t>
            </a:fld>
            <a:endParaRPr lang="fr-FR"/>
          </a:p>
        </p:txBody>
      </p:sp>
    </p:spTree>
    <p:extLst>
      <p:ext uri="{BB962C8B-B14F-4D97-AF65-F5344CB8AC3E}">
        <p14:creationId xmlns:p14="http://schemas.microsoft.com/office/powerpoint/2010/main" val="3792771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fr-FR"/>
              <a:t>Modifiez le style du titre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37BF9584-52B5-430F-B285-88B017E5DD0F}" type="datetime1">
              <a:rPr lang="fr-FR" smtClean="0"/>
              <a:t>19/12/2025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CA0101B-2B22-AF40-9AC3-C0A9D8EDFEB1}" type="slidenum">
              <a:rPr lang="fr-FR" smtClean="0"/>
              <a:t>‹N°›</a:t>
            </a:fld>
            <a:endParaRPr lang="fr-FR"/>
          </a:p>
        </p:txBody>
      </p:sp>
    </p:spTree>
    <p:extLst>
      <p:ext uri="{BB962C8B-B14F-4D97-AF65-F5344CB8AC3E}">
        <p14:creationId xmlns:p14="http://schemas.microsoft.com/office/powerpoint/2010/main" val="2274274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00A551F9-06EC-482B-B37B-FD867F5FEF84}" type="datetime1">
              <a:rPr lang="fr-FR" smtClean="0"/>
              <a:t>19/12/2025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CA0101B-2B22-AF40-9AC3-C0A9D8EDFEB1}" type="slidenum">
              <a:rPr lang="fr-FR" smtClean="0"/>
              <a:t>‹N°›</a:t>
            </a:fld>
            <a:endParaRPr lang="fr-FR"/>
          </a:p>
        </p:txBody>
      </p:sp>
    </p:spTree>
    <p:extLst>
      <p:ext uri="{BB962C8B-B14F-4D97-AF65-F5344CB8AC3E}">
        <p14:creationId xmlns:p14="http://schemas.microsoft.com/office/powerpoint/2010/main" val="2468067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D13343-9EAF-4C3D-9E15-2C90177BADA4}" type="datetime1">
              <a:rPr lang="fr-FR" smtClean="0"/>
              <a:t>19/12/2025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5CA0101B-2B22-AF40-9AC3-C0A9D8EDFEB1}" type="slidenum">
              <a:rPr lang="fr-FR" smtClean="0"/>
              <a:t>‹N°›</a:t>
            </a:fld>
            <a:endParaRPr lang="fr-FR"/>
          </a:p>
        </p:txBody>
      </p:sp>
    </p:spTree>
    <p:extLst>
      <p:ext uri="{BB962C8B-B14F-4D97-AF65-F5344CB8AC3E}">
        <p14:creationId xmlns:p14="http://schemas.microsoft.com/office/powerpoint/2010/main" val="1099184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fr-FR"/>
              <a:t>Modifiez le style du titre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AE1DA100-033E-4124-B356-A7B843EF4926}" type="datetime1">
              <a:rPr lang="fr-FR" smtClean="0"/>
              <a:t>19/12/2025</a:t>
            </a:fld>
            <a:endParaRPr lang="fr-F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fr-F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CA0101B-2B22-AF40-9AC3-C0A9D8EDFEB1}" type="slidenum">
              <a:rPr lang="fr-FR" smtClean="0"/>
              <a:t>‹N°›</a:t>
            </a:fld>
            <a:endParaRPr lang="fr-FR"/>
          </a:p>
        </p:txBody>
      </p:sp>
    </p:spTree>
    <p:extLst>
      <p:ext uri="{BB962C8B-B14F-4D97-AF65-F5344CB8AC3E}">
        <p14:creationId xmlns:p14="http://schemas.microsoft.com/office/powerpoint/2010/main" val="2330630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9CB55F7-4842-4896-8B14-C409233D64A1}" type="datetime1">
              <a:rPr lang="fr-FR" smtClean="0"/>
              <a:t>19/12/2025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CA0101B-2B22-AF40-9AC3-C0A9D8EDFEB1}" type="slidenum">
              <a:rPr lang="fr-FR" smtClean="0"/>
              <a:t>‹N°›</a:t>
            </a:fld>
            <a:endParaRPr lang="fr-FR"/>
          </a:p>
        </p:txBody>
      </p:sp>
    </p:spTree>
    <p:extLst>
      <p:ext uri="{BB962C8B-B14F-4D97-AF65-F5344CB8AC3E}">
        <p14:creationId xmlns:p14="http://schemas.microsoft.com/office/powerpoint/2010/main" val="163539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BAAD7FF-0F10-4C92-8D42-D4CB032B7542}" type="datetime1">
              <a:rPr lang="fr-FR" smtClean="0"/>
              <a:t>19/12/2025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CA0101B-2B22-AF40-9AC3-C0A9D8EDFEB1}" type="slidenum">
              <a:rPr lang="fr-FR" smtClean="0"/>
              <a:t>‹N°›</a:t>
            </a:fld>
            <a:endParaRPr lang="fr-FR"/>
          </a:p>
        </p:txBody>
      </p:sp>
    </p:spTree>
    <p:extLst>
      <p:ext uri="{BB962C8B-B14F-4D97-AF65-F5344CB8AC3E}">
        <p14:creationId xmlns:p14="http://schemas.microsoft.com/office/powerpoint/2010/main" val="2965375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4C780027-5F2E-40B9-B86F-34815D50EA2B}" type="datetime1">
              <a:rPr lang="fr-FR" smtClean="0"/>
              <a:t>19/12/2025</a:t>
            </a:fld>
            <a:endParaRPr lang="fr-FR"/>
          </a:p>
        </p:txBody>
      </p:sp>
      <p:sp>
        <p:nvSpPr>
          <p:cNvPr id="5" name="Footer Placeholder 4"/>
          <p:cNvSpPr>
            <a:spLocks noGrp="1"/>
          </p:cNvSpPr>
          <p:nvPr>
            <p:ph type="ftr" sz="quarter" idx="11"/>
          </p:nvPr>
        </p:nvSpPr>
        <p:spPr>
          <a:xfrm>
            <a:off x="774923" y="5951811"/>
            <a:ext cx="7896279" cy="365125"/>
          </a:xfrm>
        </p:spPr>
        <p:txBody>
          <a:bodyPr/>
          <a:lstStyle/>
          <a:p>
            <a:endParaRPr lang="fr-F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CA0101B-2B22-AF40-9AC3-C0A9D8EDFEB1}" type="slidenum">
              <a:rPr lang="fr-FR" smtClean="0"/>
              <a:t>‹N°›</a:t>
            </a:fld>
            <a:endParaRPr lang="fr-FR"/>
          </a:p>
        </p:txBody>
      </p:sp>
    </p:spTree>
    <p:extLst>
      <p:ext uri="{BB962C8B-B14F-4D97-AF65-F5344CB8AC3E}">
        <p14:creationId xmlns:p14="http://schemas.microsoft.com/office/powerpoint/2010/main" val="826714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33EDA554-F8B7-4499-8A1C-C5FB2B0505D6}" type="datetime1">
              <a:rPr lang="fr-FR" smtClean="0"/>
              <a:t>19/12/2025</a:t>
            </a:fld>
            <a:endParaRPr lang="fr-F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fr-F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CA0101B-2B22-AF40-9AC3-C0A9D8EDFEB1}" type="slidenum">
              <a:rPr lang="fr-FR" smtClean="0"/>
              <a:t>‹N°›</a:t>
            </a:fld>
            <a:endParaRPr lang="fr-F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17295404"/>
      </p:ext>
    </p:extLst>
  </p:cSld>
  <p:clrMap bg1="lt1" tx1="dk1" bg2="lt2" tx2="dk2" accent1="accent1" accent2="accent2" accent3="accent3" accent4="accent4" accent5="accent5" accent6="accent6" hlink="hlink" folHlink="folHlink"/>
  <p:sldLayoutIdLst>
    <p:sldLayoutId id="2147484137" r:id="rId1"/>
    <p:sldLayoutId id="2147484138" r:id="rId2"/>
    <p:sldLayoutId id="2147484139" r:id="rId3"/>
    <p:sldLayoutId id="2147484140" r:id="rId4"/>
    <p:sldLayoutId id="2147484141" r:id="rId5"/>
    <p:sldLayoutId id="2147484142" r:id="rId6"/>
    <p:sldLayoutId id="2147484143" r:id="rId7"/>
    <p:sldLayoutId id="2147484144" r:id="rId8"/>
    <p:sldLayoutId id="2147484145" r:id="rId9"/>
    <p:sldLayoutId id="2147484146" r:id="rId10"/>
    <p:sldLayoutId id="2147484147"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AE54672-FB4D-51BF-32B2-DD1BAE5F0A03}"/>
              </a:ext>
            </a:extLst>
          </p:cNvPr>
          <p:cNvSpPr txBox="1"/>
          <p:nvPr/>
        </p:nvSpPr>
        <p:spPr>
          <a:xfrm>
            <a:off x="7242687" y="5291342"/>
            <a:ext cx="6134100" cy="461665"/>
          </a:xfrm>
          <a:prstGeom prst="rect">
            <a:avLst/>
          </a:prstGeom>
          <a:noFill/>
        </p:spPr>
        <p:txBody>
          <a:bodyPr wrap="square" rtlCol="0">
            <a:spAutoFit/>
          </a:bodyPr>
          <a:lstStyle/>
          <a:p>
            <a:r>
              <a:rPr lang="fr-FR" sz="2400" dirty="0">
                <a:solidFill>
                  <a:schemeClr val="bg1"/>
                </a:solidFill>
              </a:rPr>
              <a:t>Mohamed Zaidi – Data </a:t>
            </a:r>
            <a:r>
              <a:rPr lang="fr-FR" sz="2400" dirty="0" err="1">
                <a:solidFill>
                  <a:schemeClr val="bg1"/>
                </a:solidFill>
              </a:rPr>
              <a:t>Analyst</a:t>
            </a:r>
            <a:endParaRPr lang="fr-FR" sz="2400" dirty="0">
              <a:solidFill>
                <a:schemeClr val="bg1"/>
              </a:solidFill>
            </a:endParaRPr>
          </a:p>
        </p:txBody>
      </p:sp>
      <p:sp>
        <p:nvSpPr>
          <p:cNvPr id="6" name="ZoneTexte 5">
            <a:extLst>
              <a:ext uri="{FF2B5EF4-FFF2-40B4-BE49-F238E27FC236}">
                <a16:creationId xmlns:a16="http://schemas.microsoft.com/office/drawing/2014/main" id="{991E7B41-FC77-076B-8222-5D528ECE7065}"/>
              </a:ext>
            </a:extLst>
          </p:cNvPr>
          <p:cNvSpPr txBox="1"/>
          <p:nvPr/>
        </p:nvSpPr>
        <p:spPr>
          <a:xfrm>
            <a:off x="573344" y="867920"/>
            <a:ext cx="10615766" cy="1938992"/>
          </a:xfrm>
          <a:prstGeom prst="rect">
            <a:avLst/>
          </a:prstGeom>
          <a:noFill/>
        </p:spPr>
        <p:txBody>
          <a:bodyPr wrap="square">
            <a:spAutoFit/>
          </a:bodyPr>
          <a:lstStyle/>
          <a:p>
            <a:r>
              <a:rPr lang="fr-FR" sz="6000" b="1" dirty="0"/>
              <a:t>ANALSYE VENTES </a:t>
            </a:r>
          </a:p>
          <a:p>
            <a:r>
              <a:rPr lang="fr-FR" sz="6000" b="1" dirty="0"/>
              <a:t>LA PAGE</a:t>
            </a:r>
          </a:p>
        </p:txBody>
      </p:sp>
    </p:spTree>
    <p:extLst>
      <p:ext uri="{BB962C8B-B14F-4D97-AF65-F5344CB8AC3E}">
        <p14:creationId xmlns:p14="http://schemas.microsoft.com/office/powerpoint/2010/main" val="1410198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506A22AF-12F0-26F5-E71E-2BD31B32BAD7}"/>
              </a:ext>
            </a:extLst>
          </p:cNvPr>
          <p:cNvSpPr>
            <a:spLocks noGrp="1"/>
          </p:cNvSpPr>
          <p:nvPr>
            <p:ph type="sldNum" sz="quarter" idx="12"/>
          </p:nvPr>
        </p:nvSpPr>
        <p:spPr/>
        <p:txBody>
          <a:bodyPr/>
          <a:lstStyle/>
          <a:p>
            <a:fld id="{5CA0101B-2B22-AF40-9AC3-C0A9D8EDFEB1}" type="slidenum">
              <a:rPr lang="fr-FR" smtClean="0"/>
              <a:t>2</a:t>
            </a:fld>
            <a:endParaRPr lang="fr-FR"/>
          </a:p>
        </p:txBody>
      </p:sp>
      <p:sp>
        <p:nvSpPr>
          <p:cNvPr id="6" name="ZoneTexte 5">
            <a:extLst>
              <a:ext uri="{FF2B5EF4-FFF2-40B4-BE49-F238E27FC236}">
                <a16:creationId xmlns:a16="http://schemas.microsoft.com/office/drawing/2014/main" id="{566A5F07-50B3-604F-9D7F-049C034ADC02}"/>
              </a:ext>
            </a:extLst>
          </p:cNvPr>
          <p:cNvSpPr txBox="1"/>
          <p:nvPr/>
        </p:nvSpPr>
        <p:spPr>
          <a:xfrm>
            <a:off x="501445" y="2064774"/>
            <a:ext cx="11029616" cy="4154984"/>
          </a:xfrm>
          <a:prstGeom prst="rect">
            <a:avLst/>
          </a:prstGeom>
          <a:noFill/>
        </p:spPr>
        <p:txBody>
          <a:bodyPr wrap="square">
            <a:spAutoFit/>
          </a:bodyPr>
          <a:lstStyle/>
          <a:p>
            <a:pPr>
              <a:buNone/>
            </a:pPr>
            <a:r>
              <a:rPr lang="fr-FR" sz="2200" dirty="0"/>
              <a:t>- </a:t>
            </a:r>
            <a:r>
              <a:rPr lang="fr-FR" sz="2200" dirty="0" err="1"/>
              <a:t>Lapage</a:t>
            </a:r>
            <a:r>
              <a:rPr lang="fr-FR" sz="2200" dirty="0"/>
              <a:t> est historiquement une librairie physique avec plusieurs points de vente</a:t>
            </a:r>
          </a:p>
          <a:p>
            <a:pPr>
              <a:buNone/>
            </a:pPr>
            <a:br>
              <a:rPr lang="fr-FR" sz="2200" dirty="0"/>
            </a:br>
            <a:r>
              <a:rPr lang="fr-FR" sz="2200" dirty="0"/>
              <a:t>- Depuis deux ans, l’entreprise a développé un </a:t>
            </a:r>
            <a:r>
              <a:rPr lang="fr-FR" sz="2200" b="1" dirty="0"/>
              <a:t>site de vente en ligne</a:t>
            </a:r>
            <a:r>
              <a:rPr lang="fr-FR" sz="2200" dirty="0"/>
              <a:t> afin d’accompagner la croissance de son activité</a:t>
            </a:r>
          </a:p>
          <a:p>
            <a:pPr>
              <a:buNone/>
            </a:pPr>
            <a:endParaRPr lang="fr-FR" sz="2200" dirty="0"/>
          </a:p>
          <a:p>
            <a:r>
              <a:rPr lang="fr-FR" sz="2200" dirty="0"/>
              <a:t>- Aujourd’hui, les données issues des ventes en ligne sont </a:t>
            </a:r>
            <a:r>
              <a:rPr lang="fr-FR" sz="2200" b="1" dirty="0"/>
              <a:t>peu centralisées et peu analysées</a:t>
            </a:r>
            <a:r>
              <a:rPr lang="fr-FR" sz="2200" dirty="0"/>
              <a:t>, ce qui limite la vision globale des performances commerciales et de la connaissance client</a:t>
            </a:r>
          </a:p>
          <a:p>
            <a:br>
              <a:rPr lang="fr-FR" sz="2200" dirty="0"/>
            </a:br>
            <a:r>
              <a:rPr lang="fr-FR" sz="2200" dirty="0"/>
              <a:t>- L’entreprise souhaite donc </a:t>
            </a:r>
            <a:r>
              <a:rPr lang="fr-FR" sz="2200" b="1" dirty="0"/>
              <a:t>mieux exploiter ses données</a:t>
            </a:r>
            <a:r>
              <a:rPr lang="fr-FR" sz="2200" dirty="0"/>
              <a:t> afin de piloter son activité, comprendre le comportement des clients en ligne et appuyer les décisions stratégiques Marketing et Commerciales</a:t>
            </a:r>
          </a:p>
        </p:txBody>
      </p:sp>
      <p:sp>
        <p:nvSpPr>
          <p:cNvPr id="7" name="Titre 1">
            <a:extLst>
              <a:ext uri="{FF2B5EF4-FFF2-40B4-BE49-F238E27FC236}">
                <a16:creationId xmlns:a16="http://schemas.microsoft.com/office/drawing/2014/main" id="{6097FCD8-A0DF-4075-F1EA-9E698EE9DA59}"/>
              </a:ext>
            </a:extLst>
          </p:cNvPr>
          <p:cNvSpPr>
            <a:spLocks noGrp="1"/>
          </p:cNvSpPr>
          <p:nvPr>
            <p:ph type="title"/>
          </p:nvPr>
        </p:nvSpPr>
        <p:spPr>
          <a:xfrm>
            <a:off x="442451" y="619432"/>
            <a:ext cx="11307097" cy="1150374"/>
          </a:xfrm>
        </p:spPr>
        <p:txBody>
          <a:bodyPr anchor="ctr">
            <a:normAutofit/>
          </a:bodyPr>
          <a:lstStyle/>
          <a:p>
            <a:pPr algn="ctr"/>
            <a:r>
              <a:rPr lang="fr-FR" b="1" dirty="0"/>
              <a:t>CONTEXTE ENTREPRISE</a:t>
            </a:r>
          </a:p>
        </p:txBody>
      </p:sp>
    </p:spTree>
    <p:extLst>
      <p:ext uri="{BB962C8B-B14F-4D97-AF65-F5344CB8AC3E}">
        <p14:creationId xmlns:p14="http://schemas.microsoft.com/office/powerpoint/2010/main" val="3966074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85DA4823-4D54-9794-BD87-771505AA4D31}"/>
              </a:ext>
            </a:extLst>
          </p:cNvPr>
          <p:cNvSpPr>
            <a:spLocks noGrp="1"/>
          </p:cNvSpPr>
          <p:nvPr>
            <p:ph type="sldNum" sz="quarter" idx="12"/>
          </p:nvPr>
        </p:nvSpPr>
        <p:spPr/>
        <p:txBody>
          <a:bodyPr/>
          <a:lstStyle/>
          <a:p>
            <a:fld id="{5CA0101B-2B22-AF40-9AC3-C0A9D8EDFEB1}" type="slidenum">
              <a:rPr lang="fr-FR" smtClean="0"/>
              <a:t>3</a:t>
            </a:fld>
            <a:endParaRPr lang="fr-FR"/>
          </a:p>
        </p:txBody>
      </p:sp>
      <p:sp>
        <p:nvSpPr>
          <p:cNvPr id="5" name="Titre 1">
            <a:extLst>
              <a:ext uri="{FF2B5EF4-FFF2-40B4-BE49-F238E27FC236}">
                <a16:creationId xmlns:a16="http://schemas.microsoft.com/office/drawing/2014/main" id="{B04608A1-25CF-5CA3-2DD0-A439724C3E0C}"/>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a:t>OBJECTIF DE LA MISSION</a:t>
            </a:r>
          </a:p>
        </p:txBody>
      </p:sp>
      <p:sp>
        <p:nvSpPr>
          <p:cNvPr id="7" name="ZoneTexte 6">
            <a:extLst>
              <a:ext uri="{FF2B5EF4-FFF2-40B4-BE49-F238E27FC236}">
                <a16:creationId xmlns:a16="http://schemas.microsoft.com/office/drawing/2014/main" id="{8BD575BB-0F2F-D42E-738B-5B12A384F62F}"/>
              </a:ext>
            </a:extLst>
          </p:cNvPr>
          <p:cNvSpPr txBox="1"/>
          <p:nvPr/>
        </p:nvSpPr>
        <p:spPr>
          <a:xfrm>
            <a:off x="442451" y="2143432"/>
            <a:ext cx="10962968" cy="3970318"/>
          </a:xfrm>
          <a:prstGeom prst="rect">
            <a:avLst/>
          </a:prstGeom>
          <a:noFill/>
        </p:spPr>
        <p:txBody>
          <a:bodyPr wrap="square">
            <a:spAutoFit/>
          </a:bodyPr>
          <a:lstStyle/>
          <a:p>
            <a:pPr>
              <a:buNone/>
            </a:pPr>
            <a:r>
              <a:rPr lang="fr-FR" sz="2200" dirty="0"/>
              <a:t>L’objectif de cette mission est de </a:t>
            </a:r>
            <a:r>
              <a:rPr lang="fr-FR" sz="2200" b="1" dirty="0"/>
              <a:t>structurer et fiabiliser les données de vente en ligne</a:t>
            </a:r>
            <a:r>
              <a:rPr lang="fr-FR" sz="2200" dirty="0"/>
              <a:t> afin de fournir une vision claire et exploitable de l’activité</a:t>
            </a:r>
          </a:p>
          <a:p>
            <a:pPr>
              <a:buNone/>
            </a:pPr>
            <a:endParaRPr lang="fr-FR" sz="2200" dirty="0"/>
          </a:p>
          <a:p>
            <a:pPr>
              <a:buNone/>
            </a:pPr>
            <a:endParaRPr lang="fr-FR" sz="2200" dirty="0"/>
          </a:p>
          <a:p>
            <a:pPr>
              <a:buNone/>
            </a:pPr>
            <a:r>
              <a:rPr lang="fr-FR" sz="2200" dirty="0"/>
              <a:t>Elle vise à :</a:t>
            </a:r>
          </a:p>
          <a:p>
            <a:pPr>
              <a:buNone/>
            </a:pPr>
            <a:endParaRPr lang="fr-FR" sz="2200" dirty="0"/>
          </a:p>
          <a:p>
            <a:pPr>
              <a:buFont typeface="Arial" panose="020B0604020202020204" pitchFamily="34" charset="0"/>
              <a:buChar char="•"/>
            </a:pPr>
            <a:r>
              <a:rPr lang="fr-FR" sz="2000" b="1" dirty="0"/>
              <a:t> Analyser les indicateurs clés de performance</a:t>
            </a:r>
            <a:r>
              <a:rPr lang="fr-FR" sz="2000" dirty="0"/>
              <a:t> (chiffre d’affaires, volumes, ventes)</a:t>
            </a:r>
          </a:p>
          <a:p>
            <a:pPr>
              <a:buFont typeface="Arial" panose="020B0604020202020204" pitchFamily="34" charset="0"/>
              <a:buChar char="•"/>
            </a:pPr>
            <a:endParaRPr lang="fr-FR" sz="2000" dirty="0"/>
          </a:p>
          <a:p>
            <a:pPr>
              <a:buFont typeface="Arial" panose="020B0604020202020204" pitchFamily="34" charset="0"/>
              <a:buChar char="•"/>
            </a:pPr>
            <a:r>
              <a:rPr lang="fr-FR" sz="2000" b="1" dirty="0"/>
              <a:t> Mieux comprendre le comportement des clients en ligne</a:t>
            </a:r>
          </a:p>
          <a:p>
            <a:pPr>
              <a:buFont typeface="Arial" panose="020B0604020202020204" pitchFamily="34" charset="0"/>
              <a:buChar char="•"/>
            </a:pPr>
            <a:endParaRPr lang="fr-FR" sz="2000" dirty="0"/>
          </a:p>
          <a:p>
            <a:pPr>
              <a:buFont typeface="Arial" panose="020B0604020202020204" pitchFamily="34" charset="0"/>
              <a:buChar char="•"/>
            </a:pPr>
            <a:r>
              <a:rPr lang="fr-FR" sz="2000" b="1" dirty="0"/>
              <a:t> Mettre à disposition des analyses fiables</a:t>
            </a:r>
            <a:r>
              <a:rPr lang="fr-FR" sz="2000" dirty="0"/>
              <a:t> pour aider la direction à orienter ses décisions   </a:t>
            </a:r>
          </a:p>
          <a:p>
            <a:r>
              <a:rPr lang="fr-FR" sz="2000" dirty="0"/>
              <a:t>  stratégiques Marketing et Commerciales</a:t>
            </a:r>
          </a:p>
        </p:txBody>
      </p:sp>
    </p:spTree>
    <p:extLst>
      <p:ext uri="{BB962C8B-B14F-4D97-AF65-F5344CB8AC3E}">
        <p14:creationId xmlns:p14="http://schemas.microsoft.com/office/powerpoint/2010/main" val="1652901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B4830-09CF-3BCA-DB09-95B3763EF361}"/>
            </a:ext>
          </a:extLst>
        </p:cNvPr>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A218B4F0-B4F2-832D-3257-BEA751260749}"/>
              </a:ext>
            </a:extLst>
          </p:cNvPr>
          <p:cNvSpPr>
            <a:spLocks noGrp="1"/>
          </p:cNvSpPr>
          <p:nvPr>
            <p:ph type="sldNum" sz="quarter" idx="12"/>
          </p:nvPr>
        </p:nvSpPr>
        <p:spPr/>
        <p:txBody>
          <a:bodyPr/>
          <a:lstStyle/>
          <a:p>
            <a:fld id="{5CA0101B-2B22-AF40-9AC3-C0A9D8EDFEB1}" type="slidenum">
              <a:rPr lang="fr-FR" smtClean="0"/>
              <a:t>4</a:t>
            </a:fld>
            <a:endParaRPr lang="fr-FR"/>
          </a:p>
        </p:txBody>
      </p:sp>
      <p:sp>
        <p:nvSpPr>
          <p:cNvPr id="5" name="Titre 1">
            <a:extLst>
              <a:ext uri="{FF2B5EF4-FFF2-40B4-BE49-F238E27FC236}">
                <a16:creationId xmlns:a16="http://schemas.microsoft.com/office/drawing/2014/main" id="{35BD01A6-428A-2319-026D-A91CC4281CB7}"/>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a:t>Sources de données</a:t>
            </a:r>
          </a:p>
        </p:txBody>
      </p:sp>
      <p:sp>
        <p:nvSpPr>
          <p:cNvPr id="6" name="Rectangle 2">
            <a:extLst>
              <a:ext uri="{FF2B5EF4-FFF2-40B4-BE49-F238E27FC236}">
                <a16:creationId xmlns:a16="http://schemas.microsoft.com/office/drawing/2014/main" id="{D323D174-90EE-1BCC-AD9C-726FAABF8E63}"/>
              </a:ext>
            </a:extLst>
          </p:cNvPr>
          <p:cNvSpPr>
            <a:spLocks noChangeArrowheads="1"/>
          </p:cNvSpPr>
          <p:nvPr/>
        </p:nvSpPr>
        <p:spPr bwMode="auto">
          <a:xfrm>
            <a:off x="442451" y="1902214"/>
            <a:ext cx="10795820"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200" b="1" i="0" u="none" strike="noStrike" cap="none" normalizeH="0" baseline="0" dirty="0">
                <a:ln>
                  <a:noFill/>
                </a:ln>
                <a:solidFill>
                  <a:schemeClr val="tx1"/>
                </a:solidFill>
                <a:effectLst/>
                <a:latin typeface="Gill Sans MT (Corps)"/>
              </a:rPr>
              <a:t>Sources de données utilisées :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200" b="1" i="0" u="none" strike="noStrike" cap="none" normalizeH="0" baseline="0" dirty="0">
              <a:ln>
                <a:noFill/>
              </a:ln>
              <a:solidFill>
                <a:schemeClr val="tx1"/>
              </a:solidFill>
              <a:effectLst/>
              <a:latin typeface="Gill Sans MT (Corp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0" i="0" u="none" strike="noStrike" cap="none" normalizeH="0" baseline="0" dirty="0">
                <a:ln>
                  <a:noFill/>
                </a:ln>
                <a:solidFill>
                  <a:schemeClr val="tx1"/>
                </a:solidFill>
                <a:effectLst/>
                <a:latin typeface="Gill Sans MT (Corps)"/>
              </a:rPr>
              <a:t>L’analyse repose sur </a:t>
            </a:r>
            <a:r>
              <a:rPr kumimoji="0" lang="fr-FR" altLang="fr-FR" b="1" i="0" u="none" strike="noStrike" cap="none" normalizeH="0" baseline="0" dirty="0">
                <a:ln>
                  <a:noFill/>
                </a:ln>
                <a:solidFill>
                  <a:schemeClr val="tx1"/>
                </a:solidFill>
                <a:effectLst/>
                <a:latin typeface="Gill Sans MT (Corps)"/>
              </a:rPr>
              <a:t>trois fichiers csv principaux</a:t>
            </a:r>
            <a:r>
              <a:rPr kumimoji="0" lang="fr-FR" altLang="fr-FR" b="0" i="0" u="none" strike="noStrike" cap="none" normalizeH="0" baseline="0" dirty="0">
                <a:ln>
                  <a:noFill/>
                </a:ln>
                <a:solidFill>
                  <a:schemeClr val="tx1"/>
                </a:solidFill>
                <a:effectLst/>
                <a:latin typeface="Gill Sans MT (Corps)"/>
              </a:rPr>
              <a:t> issus du site :</a:t>
            </a:r>
            <a:endParaRPr lang="fr-FR" altLang="fr-FR" dirty="0">
              <a:latin typeface="Gill Sans MT (Corp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b="0" i="0" u="none" strike="noStrike" cap="none" normalizeH="0" baseline="0" dirty="0">
              <a:ln>
                <a:noFill/>
              </a:ln>
              <a:solidFill>
                <a:schemeClr val="tx1"/>
              </a:solidFill>
              <a:effectLst/>
              <a:latin typeface="Gill Sans MT (Corp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chemeClr val="tx1"/>
                </a:solidFill>
                <a:effectLst/>
                <a:latin typeface="Gill Sans MT (Corps)"/>
              </a:rPr>
              <a:t> </a:t>
            </a:r>
            <a:r>
              <a:rPr kumimoji="0" lang="fr-FR" altLang="fr-FR" b="1" i="0" u="none" strike="noStrike" cap="none" normalizeH="0" baseline="0" dirty="0" err="1">
                <a:ln>
                  <a:noFill/>
                </a:ln>
                <a:solidFill>
                  <a:schemeClr val="tx1"/>
                </a:solidFill>
                <a:effectLst/>
                <a:latin typeface="Gill Sans MT (Corps)"/>
              </a:rPr>
              <a:t>Products</a:t>
            </a:r>
            <a:r>
              <a:rPr kumimoji="0" lang="fr-FR" altLang="fr-FR" b="1" i="0" u="none" strike="noStrike" cap="none" normalizeH="0" baseline="0" dirty="0">
                <a:ln>
                  <a:noFill/>
                </a:ln>
                <a:solidFill>
                  <a:schemeClr val="tx1"/>
                </a:solidFill>
                <a:effectLst/>
                <a:latin typeface="Gill Sans MT (Corps)"/>
              </a:rPr>
              <a:t> :</a:t>
            </a:r>
          </a:p>
          <a:p>
            <a:pPr marL="0" marR="0" lvl="0" indent="0" algn="l" defTabSz="914400" rtl="0" eaLnBrk="0" fontAlgn="base" latinLnBrk="0" hangingPunct="0">
              <a:lnSpc>
                <a:spcPct val="100000"/>
              </a:lnSpc>
              <a:spcBef>
                <a:spcPct val="0"/>
              </a:spcBef>
              <a:spcAft>
                <a:spcPct val="0"/>
              </a:spcAft>
              <a:buClrTx/>
              <a:buSzTx/>
              <a:tabLst/>
            </a:pPr>
            <a:r>
              <a:rPr lang="fr-FR" altLang="fr-FR" dirty="0">
                <a:latin typeface="Gill Sans MT (Corps)"/>
              </a:rPr>
              <a:t>  </a:t>
            </a:r>
            <a:r>
              <a:rPr kumimoji="0" lang="fr-FR" altLang="fr-FR" b="0" i="0" u="none" strike="noStrike" cap="none" normalizeH="0" baseline="0" dirty="0">
                <a:ln>
                  <a:noFill/>
                </a:ln>
                <a:solidFill>
                  <a:schemeClr val="tx1"/>
                </a:solidFill>
                <a:effectLst/>
                <a:latin typeface="Gill Sans MT (Corps)"/>
              </a:rPr>
              <a:t>Contient les informations produits : identifiant, prix et catégorie</a:t>
            </a:r>
          </a:p>
          <a:p>
            <a:pPr marL="0" marR="0" lvl="0" indent="0" algn="l" defTabSz="914400" rtl="0" eaLnBrk="0" fontAlgn="base" latinLnBrk="0" hangingPunct="0">
              <a:lnSpc>
                <a:spcPct val="100000"/>
              </a:lnSpc>
              <a:spcBef>
                <a:spcPct val="0"/>
              </a:spcBef>
              <a:spcAft>
                <a:spcPct val="0"/>
              </a:spcAft>
              <a:buClrTx/>
              <a:buSzTx/>
              <a:tabLst/>
            </a:pPr>
            <a:endParaRPr kumimoji="0" lang="fr-FR" altLang="fr-FR" b="0" i="0" u="none" strike="noStrike" cap="none" normalizeH="0" baseline="0" dirty="0">
              <a:ln>
                <a:noFill/>
              </a:ln>
              <a:solidFill>
                <a:schemeClr val="tx1"/>
              </a:solidFill>
              <a:effectLst/>
              <a:latin typeface="Gill Sans MT (Corp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chemeClr val="tx1"/>
                </a:solidFill>
                <a:effectLst/>
                <a:latin typeface="Gill Sans MT (Corps)"/>
              </a:rPr>
              <a:t> </a:t>
            </a:r>
            <a:r>
              <a:rPr kumimoji="0" lang="fr-FR" altLang="fr-FR" b="1" i="0" u="none" strike="noStrike" cap="none" normalizeH="0" baseline="0" dirty="0" err="1">
                <a:ln>
                  <a:noFill/>
                </a:ln>
                <a:solidFill>
                  <a:schemeClr val="tx1"/>
                </a:solidFill>
                <a:effectLst/>
                <a:latin typeface="Gill Sans MT (Corps)"/>
              </a:rPr>
              <a:t>Customers</a:t>
            </a:r>
            <a:r>
              <a:rPr kumimoji="0" lang="fr-FR" altLang="fr-FR" b="1" i="0" u="none" strike="noStrike" cap="none" normalizeH="0" baseline="0" dirty="0">
                <a:ln>
                  <a:noFill/>
                </a:ln>
                <a:solidFill>
                  <a:schemeClr val="tx1"/>
                </a:solidFill>
                <a:effectLst/>
                <a:latin typeface="Gill Sans MT (Corps)"/>
              </a:rPr>
              <a:t> :</a:t>
            </a:r>
            <a:br>
              <a:rPr kumimoji="0" lang="fr-FR" altLang="fr-FR" b="0" i="0" u="none" strike="noStrike" cap="none" normalizeH="0" baseline="0" dirty="0">
                <a:ln>
                  <a:noFill/>
                </a:ln>
                <a:solidFill>
                  <a:schemeClr val="tx1"/>
                </a:solidFill>
                <a:effectLst/>
                <a:latin typeface="Gill Sans MT (Corps)"/>
              </a:rPr>
            </a:br>
            <a:r>
              <a:rPr lang="fr-FR" altLang="fr-FR" dirty="0">
                <a:latin typeface="Gill Sans MT (Corps)"/>
              </a:rPr>
              <a:t>  </a:t>
            </a:r>
            <a:r>
              <a:rPr kumimoji="0" lang="fr-FR" altLang="fr-FR" b="0" i="0" u="none" strike="noStrike" cap="none" normalizeH="0" baseline="0" dirty="0">
                <a:ln>
                  <a:noFill/>
                </a:ln>
                <a:solidFill>
                  <a:schemeClr val="tx1"/>
                </a:solidFill>
                <a:effectLst/>
                <a:latin typeface="Gill Sans MT (Corps)"/>
              </a:rPr>
              <a:t>Fournit les informations clients : identifiant, sexe et année de naissance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b="0" i="0" u="none" strike="noStrike" cap="none" normalizeH="0" baseline="0" dirty="0">
              <a:ln>
                <a:noFill/>
              </a:ln>
              <a:solidFill>
                <a:schemeClr val="tx1"/>
              </a:solidFill>
              <a:effectLst/>
              <a:latin typeface="Gill Sans MT (Corp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chemeClr val="tx1"/>
                </a:solidFill>
                <a:effectLst/>
                <a:latin typeface="Gill Sans MT (Corps)"/>
              </a:rPr>
              <a:t> Transactions :</a:t>
            </a:r>
            <a:br>
              <a:rPr kumimoji="0" lang="fr-FR" altLang="fr-FR" b="0" i="0" u="none" strike="noStrike" cap="none" normalizeH="0" baseline="0" dirty="0">
                <a:ln>
                  <a:noFill/>
                </a:ln>
                <a:solidFill>
                  <a:schemeClr val="tx1"/>
                </a:solidFill>
                <a:effectLst/>
                <a:latin typeface="Gill Sans MT (Corps)"/>
              </a:rPr>
            </a:br>
            <a:r>
              <a:rPr kumimoji="0" lang="fr-FR" altLang="fr-FR" b="0" i="0" u="none" strike="noStrike" cap="none" normalizeH="0" baseline="0" dirty="0">
                <a:ln>
                  <a:noFill/>
                </a:ln>
                <a:solidFill>
                  <a:schemeClr val="tx1"/>
                </a:solidFill>
                <a:effectLst/>
                <a:latin typeface="Gill Sans MT (Corps)"/>
              </a:rPr>
              <a:t>  Recense l’ensemble des ventes réalisées en ligne : date de transaction, session et client associé</a:t>
            </a:r>
          </a:p>
          <a:p>
            <a:pPr marL="0" marR="0" lvl="0" indent="0" algn="l" defTabSz="914400" rtl="0" eaLnBrk="0" fontAlgn="base" latinLnBrk="0" hangingPunct="0">
              <a:lnSpc>
                <a:spcPct val="100000"/>
              </a:lnSpc>
              <a:spcBef>
                <a:spcPct val="0"/>
              </a:spcBef>
              <a:spcAft>
                <a:spcPct val="0"/>
              </a:spcAft>
              <a:buClrTx/>
              <a:buSzTx/>
              <a:tabLst/>
            </a:pPr>
            <a:endParaRPr kumimoji="0" lang="fr-FR" altLang="fr-FR" b="0" i="0" u="none" strike="noStrike" cap="none" normalizeH="0" baseline="0" dirty="0">
              <a:ln>
                <a:noFill/>
              </a:ln>
              <a:solidFill>
                <a:schemeClr val="tx1"/>
              </a:solidFill>
              <a:effectLst/>
              <a:latin typeface="Gill Sans MT (Corp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0" i="0" u="none" strike="noStrike" cap="none" normalizeH="0" baseline="0" dirty="0">
                <a:ln>
                  <a:noFill/>
                </a:ln>
                <a:solidFill>
                  <a:schemeClr val="tx1"/>
                </a:solidFill>
                <a:effectLst/>
                <a:latin typeface="Gill Sans MT (Corps)"/>
              </a:rPr>
              <a:t>Ces trois jeux de données sont reliés par des </a:t>
            </a:r>
            <a:r>
              <a:rPr kumimoji="0" lang="fr-FR" altLang="fr-FR" b="1" i="0" u="none" strike="noStrike" cap="none" normalizeH="0" baseline="0" dirty="0">
                <a:ln>
                  <a:noFill/>
                </a:ln>
                <a:solidFill>
                  <a:schemeClr val="tx1"/>
                </a:solidFill>
                <a:effectLst/>
                <a:latin typeface="Gill Sans MT (Corps)"/>
              </a:rPr>
              <a:t>clés uniques</a:t>
            </a:r>
            <a:r>
              <a:rPr kumimoji="0" lang="fr-FR" altLang="fr-FR" b="0" i="0" u="none" strike="noStrike" cap="none" normalizeH="0" baseline="0" dirty="0">
                <a:ln>
                  <a:noFill/>
                </a:ln>
                <a:solidFill>
                  <a:schemeClr val="tx1"/>
                </a:solidFill>
                <a:effectLst/>
                <a:latin typeface="Gill Sans MT (Corps)"/>
              </a:rPr>
              <a:t> (</a:t>
            </a:r>
            <a:r>
              <a:rPr kumimoji="0" lang="fr-FR" altLang="fr-FR" b="0" i="0" u="none" strike="noStrike" cap="none" normalizeH="0" baseline="0" dirty="0" err="1">
                <a:ln>
                  <a:noFill/>
                </a:ln>
                <a:solidFill>
                  <a:schemeClr val="tx1"/>
                </a:solidFill>
                <a:effectLst/>
                <a:latin typeface="Gill Sans MT (Corps)"/>
              </a:rPr>
              <a:t>id_prod</a:t>
            </a:r>
            <a:r>
              <a:rPr kumimoji="0" lang="fr-FR" altLang="fr-FR" b="0" i="0" u="none" strike="noStrike" cap="none" normalizeH="0" baseline="0" dirty="0">
                <a:ln>
                  <a:noFill/>
                </a:ln>
                <a:solidFill>
                  <a:schemeClr val="tx1"/>
                </a:solidFill>
                <a:effectLst/>
                <a:latin typeface="Gill Sans MT (Corps)"/>
              </a:rPr>
              <a:t> et </a:t>
            </a:r>
            <a:r>
              <a:rPr kumimoji="0" lang="fr-FR" altLang="fr-FR" b="0" i="0" u="none" strike="noStrike" cap="none" normalizeH="0" baseline="0" dirty="0" err="1">
                <a:ln>
                  <a:noFill/>
                </a:ln>
                <a:solidFill>
                  <a:schemeClr val="tx1"/>
                </a:solidFill>
                <a:effectLst/>
                <a:latin typeface="Gill Sans MT (Corps)"/>
              </a:rPr>
              <a:t>client_id</a:t>
            </a:r>
            <a:r>
              <a:rPr kumimoji="0" lang="fr-FR" altLang="fr-FR" b="0" i="0" u="none" strike="noStrike" cap="none" normalizeH="0" baseline="0" dirty="0">
                <a:ln>
                  <a:noFill/>
                </a:ln>
                <a:solidFill>
                  <a:schemeClr val="tx1"/>
                </a:solidFill>
                <a:effectLst/>
                <a:latin typeface="Gill Sans MT (Corps)"/>
              </a:rPr>
              <a:t>), garantissant la cohérence des jointures pour l’analyse</a:t>
            </a:r>
          </a:p>
        </p:txBody>
      </p:sp>
    </p:spTree>
    <p:extLst>
      <p:ext uri="{BB962C8B-B14F-4D97-AF65-F5344CB8AC3E}">
        <p14:creationId xmlns:p14="http://schemas.microsoft.com/office/powerpoint/2010/main" val="1496364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547FF-6043-7024-561B-B2475FCF9DC6}"/>
            </a:ext>
          </a:extLst>
        </p:cNvPr>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87DC55A-50D4-A974-0E62-3FD0CB1A5672}"/>
              </a:ext>
            </a:extLst>
          </p:cNvPr>
          <p:cNvSpPr>
            <a:spLocks noGrp="1"/>
          </p:cNvSpPr>
          <p:nvPr>
            <p:ph type="sldNum" sz="quarter" idx="12"/>
          </p:nvPr>
        </p:nvSpPr>
        <p:spPr/>
        <p:txBody>
          <a:bodyPr/>
          <a:lstStyle/>
          <a:p>
            <a:fld id="{5CA0101B-2B22-AF40-9AC3-C0A9D8EDFEB1}" type="slidenum">
              <a:rPr lang="fr-FR" smtClean="0"/>
              <a:t>5</a:t>
            </a:fld>
            <a:endParaRPr lang="fr-FR"/>
          </a:p>
        </p:txBody>
      </p:sp>
      <p:sp>
        <p:nvSpPr>
          <p:cNvPr id="5" name="Titre 1">
            <a:extLst>
              <a:ext uri="{FF2B5EF4-FFF2-40B4-BE49-F238E27FC236}">
                <a16:creationId xmlns:a16="http://schemas.microsoft.com/office/drawing/2014/main" id="{FACAA067-AFD4-BEFC-3969-78C2C89C450B}"/>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dirty="0"/>
              <a:t>Nettoyage des données</a:t>
            </a:r>
            <a:endParaRPr lang="fr-FR" b="1" dirty="0"/>
          </a:p>
        </p:txBody>
      </p:sp>
      <p:sp>
        <p:nvSpPr>
          <p:cNvPr id="3" name="ZoneTexte 2">
            <a:extLst>
              <a:ext uri="{FF2B5EF4-FFF2-40B4-BE49-F238E27FC236}">
                <a16:creationId xmlns:a16="http://schemas.microsoft.com/office/drawing/2014/main" id="{7A9F40D7-32C0-BD4A-5BC2-66BB6CE749B2}"/>
              </a:ext>
            </a:extLst>
          </p:cNvPr>
          <p:cNvSpPr txBox="1"/>
          <p:nvPr/>
        </p:nvSpPr>
        <p:spPr>
          <a:xfrm>
            <a:off x="442451" y="2137101"/>
            <a:ext cx="10884310" cy="4370427"/>
          </a:xfrm>
          <a:prstGeom prst="rect">
            <a:avLst/>
          </a:prstGeom>
          <a:noFill/>
        </p:spPr>
        <p:txBody>
          <a:bodyPr wrap="square">
            <a:spAutoFit/>
          </a:bodyPr>
          <a:lstStyle/>
          <a:p>
            <a:pPr>
              <a:buNone/>
            </a:pPr>
            <a:r>
              <a:rPr lang="fr-FR" sz="2200" dirty="0"/>
              <a:t>Avant l’analyse, un travail de </a:t>
            </a:r>
            <a:r>
              <a:rPr lang="fr-FR" sz="2200" b="1" dirty="0"/>
              <a:t>fiabilisation des données</a:t>
            </a:r>
            <a:r>
              <a:rPr lang="fr-FR" sz="2200" dirty="0"/>
              <a:t> a été réalisé :</a:t>
            </a:r>
          </a:p>
          <a:p>
            <a:pPr>
              <a:buNone/>
            </a:pPr>
            <a:endParaRPr lang="fr-FR" dirty="0"/>
          </a:p>
          <a:p>
            <a:pPr>
              <a:buFont typeface="Arial" panose="020B0604020202020204" pitchFamily="34" charset="0"/>
              <a:buChar char="•"/>
            </a:pPr>
            <a:r>
              <a:rPr lang="fr-FR" dirty="0"/>
              <a:t> Vérification de l’unicité des </a:t>
            </a:r>
            <a:r>
              <a:rPr lang="fr-FR" b="1" dirty="0"/>
              <a:t>clés primaires</a:t>
            </a:r>
            <a:r>
              <a:rPr lang="fr-FR" dirty="0"/>
              <a:t> dans les trois tables</a:t>
            </a:r>
          </a:p>
          <a:p>
            <a:pPr>
              <a:buFont typeface="Arial" panose="020B0604020202020204" pitchFamily="34" charset="0"/>
              <a:buChar char="•"/>
            </a:pPr>
            <a:endParaRPr lang="fr-FR" dirty="0"/>
          </a:p>
          <a:p>
            <a:pPr>
              <a:buFont typeface="Arial" panose="020B0604020202020204" pitchFamily="34" charset="0"/>
              <a:buChar char="•"/>
            </a:pPr>
            <a:r>
              <a:rPr lang="fr-FR" dirty="0"/>
              <a:t> Suppression de </a:t>
            </a:r>
            <a:r>
              <a:rPr lang="fr-FR" b="1" dirty="0"/>
              <a:t>361041 lignes vides</a:t>
            </a:r>
            <a:r>
              <a:rPr lang="fr-FR" dirty="0"/>
              <a:t> dans la table Transactions</a:t>
            </a:r>
            <a:endParaRPr lang="fr-FR" i="1" dirty="0"/>
          </a:p>
          <a:p>
            <a:pPr>
              <a:buFont typeface="Arial" panose="020B0604020202020204" pitchFamily="34" charset="0"/>
              <a:buChar char="•"/>
            </a:pPr>
            <a:endParaRPr lang="fr-FR" dirty="0"/>
          </a:p>
          <a:p>
            <a:pPr>
              <a:buFont typeface="Arial" panose="020B0604020202020204" pitchFamily="34" charset="0"/>
              <a:buChar char="•"/>
            </a:pPr>
            <a:r>
              <a:rPr lang="fr-FR" dirty="0"/>
              <a:t> Conversion des dates de transaction au </a:t>
            </a:r>
            <a:r>
              <a:rPr lang="fr-FR" b="1" dirty="0"/>
              <a:t>format ‘</a:t>
            </a:r>
            <a:r>
              <a:rPr lang="fr-FR" b="1" dirty="0" err="1"/>
              <a:t>datetime</a:t>
            </a:r>
            <a:r>
              <a:rPr lang="fr-FR" b="1" dirty="0"/>
              <a:t>’</a:t>
            </a:r>
          </a:p>
          <a:p>
            <a:pPr>
              <a:buFont typeface="Arial" panose="020B0604020202020204" pitchFamily="34" charset="0"/>
              <a:buChar char="•"/>
            </a:pPr>
            <a:endParaRPr lang="fr-FR" dirty="0"/>
          </a:p>
          <a:p>
            <a:pPr>
              <a:buFont typeface="Arial" panose="020B0604020202020204" pitchFamily="34" charset="0"/>
              <a:buChar char="•"/>
            </a:pPr>
            <a:r>
              <a:rPr lang="fr-FR" dirty="0"/>
              <a:t> Conversion de l’année de naissance des clients en </a:t>
            </a:r>
            <a:r>
              <a:rPr lang="fr-FR" b="1" dirty="0"/>
              <a:t>format numérique</a:t>
            </a:r>
          </a:p>
          <a:p>
            <a:pPr>
              <a:buFont typeface="Arial" panose="020B0604020202020204" pitchFamily="34" charset="0"/>
              <a:buChar char="•"/>
            </a:pPr>
            <a:endParaRPr lang="fr-FR" b="1" dirty="0"/>
          </a:p>
          <a:p>
            <a:pPr>
              <a:buFont typeface="Arial" panose="020B0604020202020204" pitchFamily="34" charset="0"/>
              <a:buChar char="•"/>
            </a:pPr>
            <a:r>
              <a:rPr lang="fr-FR" b="1" dirty="0"/>
              <a:t> Fusion des trois jeux de données (</a:t>
            </a:r>
            <a:r>
              <a:rPr lang="fr-FR" b="1" dirty="0" err="1"/>
              <a:t>products</a:t>
            </a:r>
            <a:r>
              <a:rPr lang="fr-FR" b="1" dirty="0"/>
              <a:t>, transactions, </a:t>
            </a:r>
            <a:r>
              <a:rPr lang="fr-FR" b="1" dirty="0" err="1"/>
              <a:t>customers</a:t>
            </a:r>
            <a:r>
              <a:rPr lang="fr-FR" b="1" dirty="0"/>
              <a:t>) en une table unique</a:t>
            </a:r>
            <a:r>
              <a:rPr lang="fr-FR" dirty="0"/>
              <a:t>, afin de faciliter l’analyse globale des ventes et du comportement client</a:t>
            </a:r>
            <a:endParaRPr lang="fr-FR" b="1" dirty="0"/>
          </a:p>
          <a:p>
            <a:pPr>
              <a:buFont typeface="Arial" panose="020B0604020202020204" pitchFamily="34" charset="0"/>
              <a:buChar char="•"/>
            </a:pPr>
            <a:endParaRPr lang="fr-FR" dirty="0"/>
          </a:p>
          <a:p>
            <a:r>
              <a:rPr lang="fr-FR" sz="2000" dirty="0"/>
              <a:t>Ces étapes ont permis d’obtenir des </a:t>
            </a:r>
            <a:r>
              <a:rPr lang="fr-FR" sz="2000" b="1" dirty="0"/>
              <a:t>données propres, cohérentes et exploitables</a:t>
            </a:r>
            <a:r>
              <a:rPr lang="fr-FR" sz="2000" dirty="0"/>
              <a:t> pour le calcul des indicateurs et l’analyse du comportement client</a:t>
            </a:r>
          </a:p>
        </p:txBody>
      </p:sp>
    </p:spTree>
    <p:extLst>
      <p:ext uri="{BB962C8B-B14F-4D97-AF65-F5344CB8AC3E}">
        <p14:creationId xmlns:p14="http://schemas.microsoft.com/office/powerpoint/2010/main" val="3909544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6EDCCA-C386-132F-B0AF-25232558D8C4}"/>
              </a:ext>
            </a:extLst>
          </p:cNvPr>
          <p:cNvSpPr>
            <a:spLocks noGrp="1"/>
          </p:cNvSpPr>
          <p:nvPr>
            <p:ph type="title"/>
          </p:nvPr>
        </p:nvSpPr>
        <p:spPr>
          <a:xfrm>
            <a:off x="442451" y="619432"/>
            <a:ext cx="11307097" cy="1150374"/>
          </a:xfrm>
        </p:spPr>
        <p:txBody>
          <a:bodyPr anchor="ctr">
            <a:normAutofit/>
          </a:bodyPr>
          <a:lstStyle/>
          <a:p>
            <a:pPr algn="ctr"/>
            <a:r>
              <a:rPr lang="fr-FR" b="1" dirty="0"/>
              <a:t>Évolution du CA</a:t>
            </a:r>
          </a:p>
        </p:txBody>
      </p:sp>
      <p:pic>
        <p:nvPicPr>
          <p:cNvPr id="8" name="Image 7">
            <a:extLst>
              <a:ext uri="{FF2B5EF4-FFF2-40B4-BE49-F238E27FC236}">
                <a16:creationId xmlns:a16="http://schemas.microsoft.com/office/drawing/2014/main" id="{AC300793-4FE3-32F4-2780-7E48E90E7F1F}"/>
              </a:ext>
            </a:extLst>
          </p:cNvPr>
          <p:cNvPicPr>
            <a:picLocks noChangeAspect="1"/>
          </p:cNvPicPr>
          <p:nvPr/>
        </p:nvPicPr>
        <p:blipFill>
          <a:blip r:embed="rId2"/>
          <a:stretch>
            <a:fillRect/>
          </a:stretch>
        </p:blipFill>
        <p:spPr>
          <a:xfrm>
            <a:off x="442451" y="2116319"/>
            <a:ext cx="11307097" cy="3139712"/>
          </a:xfrm>
          <a:prstGeom prst="rect">
            <a:avLst/>
          </a:prstGeom>
        </p:spPr>
      </p:pic>
      <p:sp>
        <p:nvSpPr>
          <p:cNvPr id="6" name="Espace réservé du numéro de diapositive 5">
            <a:extLst>
              <a:ext uri="{FF2B5EF4-FFF2-40B4-BE49-F238E27FC236}">
                <a16:creationId xmlns:a16="http://schemas.microsoft.com/office/drawing/2014/main" id="{AE0AEAF5-6CDA-D14A-8B2B-5319C9A23EAF}"/>
              </a:ext>
            </a:extLst>
          </p:cNvPr>
          <p:cNvSpPr>
            <a:spLocks noGrp="1"/>
          </p:cNvSpPr>
          <p:nvPr>
            <p:ph type="sldNum" sz="quarter" idx="12"/>
          </p:nvPr>
        </p:nvSpPr>
        <p:spPr/>
        <p:txBody>
          <a:bodyPr/>
          <a:lstStyle/>
          <a:p>
            <a:fld id="{5CA0101B-2B22-AF40-9AC3-C0A9D8EDFEB1}" type="slidenum">
              <a:rPr lang="fr-FR" smtClean="0"/>
              <a:t>6</a:t>
            </a:fld>
            <a:endParaRPr lang="fr-FR"/>
          </a:p>
        </p:txBody>
      </p:sp>
    </p:spTree>
    <p:extLst>
      <p:ext uri="{BB962C8B-B14F-4D97-AF65-F5344CB8AC3E}">
        <p14:creationId xmlns:p14="http://schemas.microsoft.com/office/powerpoint/2010/main" val="1643103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9328A1-E0DB-C9E4-260E-231AD10781F2}"/>
              </a:ext>
            </a:extLst>
          </p:cNvPr>
          <p:cNvSpPr>
            <a:spLocks noGrp="1"/>
          </p:cNvSpPr>
          <p:nvPr>
            <p:ph type="title"/>
          </p:nvPr>
        </p:nvSpPr>
        <p:spPr>
          <a:xfrm>
            <a:off x="838200" y="1"/>
            <a:ext cx="10515600" cy="584199"/>
          </a:xfrm>
        </p:spPr>
        <p:txBody>
          <a:bodyPr>
            <a:normAutofit/>
          </a:bodyPr>
          <a:lstStyle/>
          <a:p>
            <a:pPr algn="ctr"/>
            <a:r>
              <a:rPr lang="fr-FR" b="1" dirty="0"/>
              <a:t>Répartition du CA par catégorie</a:t>
            </a:r>
          </a:p>
        </p:txBody>
      </p:sp>
      <p:pic>
        <p:nvPicPr>
          <p:cNvPr id="5" name="Image 4">
            <a:extLst>
              <a:ext uri="{FF2B5EF4-FFF2-40B4-BE49-F238E27FC236}">
                <a16:creationId xmlns:a16="http://schemas.microsoft.com/office/drawing/2014/main" id="{E5B436DE-1166-85AD-DEBA-EF9D0501784E}"/>
              </a:ext>
            </a:extLst>
          </p:cNvPr>
          <p:cNvPicPr>
            <a:picLocks noChangeAspect="1"/>
          </p:cNvPicPr>
          <p:nvPr/>
        </p:nvPicPr>
        <p:blipFill>
          <a:blip r:embed="rId2"/>
          <a:stretch>
            <a:fillRect/>
          </a:stretch>
        </p:blipFill>
        <p:spPr>
          <a:xfrm>
            <a:off x="5517203" y="2138530"/>
            <a:ext cx="5705475" cy="4162425"/>
          </a:xfrm>
          <a:prstGeom prst="rect">
            <a:avLst/>
          </a:prstGeom>
        </p:spPr>
      </p:pic>
      <p:sp>
        <p:nvSpPr>
          <p:cNvPr id="7" name="ZoneTexte 6">
            <a:extLst>
              <a:ext uri="{FF2B5EF4-FFF2-40B4-BE49-F238E27FC236}">
                <a16:creationId xmlns:a16="http://schemas.microsoft.com/office/drawing/2014/main" id="{F3FC15E5-380A-EFFD-64A1-F7A8108652EC}"/>
              </a:ext>
            </a:extLst>
          </p:cNvPr>
          <p:cNvSpPr txBox="1"/>
          <p:nvPr/>
        </p:nvSpPr>
        <p:spPr>
          <a:xfrm>
            <a:off x="-578797" y="2895818"/>
            <a:ext cx="6096000" cy="2308324"/>
          </a:xfrm>
          <a:prstGeom prst="rect">
            <a:avLst/>
          </a:prstGeom>
          <a:noFill/>
        </p:spPr>
        <p:txBody>
          <a:bodyPr wrap="square">
            <a:spAutoFit/>
          </a:bodyPr>
          <a:lstStyle/>
          <a:p>
            <a:pPr algn="ctr"/>
            <a:r>
              <a:rPr lang="fr-FR" sz="3200" dirty="0"/>
              <a:t>3 Catégories :  </a:t>
            </a:r>
          </a:p>
          <a:p>
            <a:pPr algn="ctr"/>
            <a:endParaRPr lang="fr-FR" sz="2800" dirty="0"/>
          </a:p>
          <a:p>
            <a:pPr algn="ctr"/>
            <a:r>
              <a:rPr lang="fr-FR" sz="2800" b="1" i="1" u="sng" dirty="0">
                <a:solidFill>
                  <a:srgbClr val="00B050"/>
                </a:solidFill>
              </a:rPr>
              <a:t>Catégorie 2</a:t>
            </a:r>
            <a:r>
              <a:rPr lang="fr-FR" sz="2800" b="1" i="1" dirty="0">
                <a:solidFill>
                  <a:srgbClr val="002060"/>
                </a:solidFill>
              </a:rPr>
              <a:t>: </a:t>
            </a:r>
            <a:r>
              <a:rPr lang="fr-FR" sz="2800" dirty="0"/>
              <a:t>23.1%</a:t>
            </a:r>
          </a:p>
          <a:p>
            <a:pPr algn="ctr"/>
            <a:r>
              <a:rPr lang="fr-FR" sz="2800" b="1" i="1" u="sng" dirty="0">
                <a:solidFill>
                  <a:schemeClr val="accent2"/>
                </a:solidFill>
              </a:rPr>
              <a:t>Catégorie 1</a:t>
            </a:r>
            <a:r>
              <a:rPr lang="fr-FR" sz="2800" b="1" i="1" dirty="0">
                <a:solidFill>
                  <a:srgbClr val="002060"/>
                </a:solidFill>
              </a:rPr>
              <a:t>: </a:t>
            </a:r>
            <a:r>
              <a:rPr lang="fr-FR" sz="2800" dirty="0"/>
              <a:t>40.1%</a:t>
            </a:r>
          </a:p>
          <a:p>
            <a:pPr algn="ctr"/>
            <a:r>
              <a:rPr lang="fr-FR" sz="2800" b="1" i="1" u="sng" dirty="0">
                <a:solidFill>
                  <a:schemeClr val="accent1"/>
                </a:solidFill>
              </a:rPr>
              <a:t>Catégorie 0</a:t>
            </a:r>
            <a:r>
              <a:rPr lang="fr-FR" sz="2800" b="1" i="1" dirty="0">
                <a:solidFill>
                  <a:srgbClr val="002060"/>
                </a:solidFill>
              </a:rPr>
              <a:t>: </a:t>
            </a:r>
            <a:r>
              <a:rPr lang="fr-FR" sz="2800" dirty="0"/>
              <a:t>36.7%</a:t>
            </a:r>
          </a:p>
        </p:txBody>
      </p:sp>
      <p:sp>
        <p:nvSpPr>
          <p:cNvPr id="3" name="Titre 1">
            <a:extLst>
              <a:ext uri="{FF2B5EF4-FFF2-40B4-BE49-F238E27FC236}">
                <a16:creationId xmlns:a16="http://schemas.microsoft.com/office/drawing/2014/main" id="{106D4499-09D4-5782-7AD5-4630E1DB17A5}"/>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err="1"/>
              <a:t>RÉpartition</a:t>
            </a:r>
            <a:r>
              <a:rPr lang="fr-FR" b="1" dirty="0"/>
              <a:t> du CA PAR </a:t>
            </a:r>
            <a:r>
              <a:rPr lang="fr-FR" b="1" dirty="0" err="1"/>
              <a:t>CATÉgorie</a:t>
            </a:r>
            <a:endParaRPr lang="fr-FR" b="1" dirty="0"/>
          </a:p>
        </p:txBody>
      </p:sp>
      <p:sp>
        <p:nvSpPr>
          <p:cNvPr id="4" name="Espace réservé du numéro de diapositive 3">
            <a:extLst>
              <a:ext uri="{FF2B5EF4-FFF2-40B4-BE49-F238E27FC236}">
                <a16:creationId xmlns:a16="http://schemas.microsoft.com/office/drawing/2014/main" id="{F4C8C4F7-FAB6-E488-1752-FBCAD517CD0F}"/>
              </a:ext>
            </a:extLst>
          </p:cNvPr>
          <p:cNvSpPr>
            <a:spLocks noGrp="1"/>
          </p:cNvSpPr>
          <p:nvPr>
            <p:ph type="sldNum" sz="quarter" idx="12"/>
          </p:nvPr>
        </p:nvSpPr>
        <p:spPr/>
        <p:txBody>
          <a:bodyPr/>
          <a:lstStyle/>
          <a:p>
            <a:fld id="{5CA0101B-2B22-AF40-9AC3-C0A9D8EDFEB1}" type="slidenum">
              <a:rPr lang="fr-FR" smtClean="0"/>
              <a:t>7</a:t>
            </a:fld>
            <a:endParaRPr lang="fr-FR"/>
          </a:p>
        </p:txBody>
      </p:sp>
    </p:spTree>
    <p:extLst>
      <p:ext uri="{BB962C8B-B14F-4D97-AF65-F5344CB8AC3E}">
        <p14:creationId xmlns:p14="http://schemas.microsoft.com/office/powerpoint/2010/main" val="2894243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A73075D2-7271-FA01-6FA6-50295F239570}"/>
              </a:ext>
            </a:extLst>
          </p:cNvPr>
          <p:cNvPicPr>
            <a:picLocks noChangeAspect="1"/>
          </p:cNvPicPr>
          <p:nvPr/>
        </p:nvPicPr>
        <p:blipFill>
          <a:blip r:embed="rId2"/>
          <a:stretch>
            <a:fillRect/>
          </a:stretch>
        </p:blipFill>
        <p:spPr>
          <a:xfrm>
            <a:off x="3566242" y="5956137"/>
            <a:ext cx="1511300" cy="571500"/>
          </a:xfrm>
          <a:prstGeom prst="rect">
            <a:avLst/>
          </a:prstGeom>
        </p:spPr>
      </p:pic>
      <p:pic>
        <p:nvPicPr>
          <p:cNvPr id="13" name="Image 12">
            <a:extLst>
              <a:ext uri="{FF2B5EF4-FFF2-40B4-BE49-F238E27FC236}">
                <a16:creationId xmlns:a16="http://schemas.microsoft.com/office/drawing/2014/main" id="{16270F6D-CF1B-2465-B79C-421E7778089A}"/>
              </a:ext>
            </a:extLst>
          </p:cNvPr>
          <p:cNvPicPr>
            <a:picLocks noChangeAspect="1"/>
          </p:cNvPicPr>
          <p:nvPr/>
        </p:nvPicPr>
        <p:blipFill>
          <a:blip r:embed="rId3"/>
          <a:stretch>
            <a:fillRect/>
          </a:stretch>
        </p:blipFill>
        <p:spPr>
          <a:xfrm>
            <a:off x="9802650" y="5928238"/>
            <a:ext cx="1511300" cy="571500"/>
          </a:xfrm>
          <a:prstGeom prst="rect">
            <a:avLst/>
          </a:prstGeom>
        </p:spPr>
      </p:pic>
      <p:pic>
        <p:nvPicPr>
          <p:cNvPr id="4" name="Image 3">
            <a:extLst>
              <a:ext uri="{FF2B5EF4-FFF2-40B4-BE49-F238E27FC236}">
                <a16:creationId xmlns:a16="http://schemas.microsoft.com/office/drawing/2014/main" id="{AF1EEBC8-BD24-1218-FBB3-452C4B6D19D4}"/>
              </a:ext>
            </a:extLst>
          </p:cNvPr>
          <p:cNvPicPr>
            <a:picLocks noChangeAspect="1"/>
          </p:cNvPicPr>
          <p:nvPr/>
        </p:nvPicPr>
        <p:blipFill>
          <a:blip r:embed="rId4"/>
          <a:stretch>
            <a:fillRect/>
          </a:stretch>
        </p:blipFill>
        <p:spPr>
          <a:xfrm>
            <a:off x="268350" y="1988573"/>
            <a:ext cx="11799049" cy="3119723"/>
          </a:xfrm>
          <a:prstGeom prst="rect">
            <a:avLst/>
          </a:prstGeom>
        </p:spPr>
      </p:pic>
      <p:sp>
        <p:nvSpPr>
          <p:cNvPr id="6" name="ZoneTexte 5">
            <a:extLst>
              <a:ext uri="{FF2B5EF4-FFF2-40B4-BE49-F238E27FC236}">
                <a16:creationId xmlns:a16="http://schemas.microsoft.com/office/drawing/2014/main" id="{590B9B61-1A1D-42F3-12CC-66815C50DFFB}"/>
              </a:ext>
            </a:extLst>
          </p:cNvPr>
          <p:cNvSpPr txBox="1"/>
          <p:nvPr/>
        </p:nvSpPr>
        <p:spPr>
          <a:xfrm>
            <a:off x="546100" y="5477318"/>
            <a:ext cx="4159250" cy="369332"/>
          </a:xfrm>
          <a:prstGeom prst="rect">
            <a:avLst/>
          </a:prstGeom>
          <a:noFill/>
        </p:spPr>
        <p:txBody>
          <a:bodyPr wrap="square">
            <a:spAutoFit/>
          </a:bodyPr>
          <a:lstStyle/>
          <a:p>
            <a:pPr algn="ctr"/>
            <a:r>
              <a:rPr lang="fr-FR" dirty="0">
                <a:solidFill>
                  <a:srgbClr val="FF0000"/>
                </a:solidFill>
              </a:rPr>
              <a:t>Min </a:t>
            </a:r>
            <a:r>
              <a:rPr lang="fr-FR" dirty="0"/>
              <a:t>: </a:t>
            </a:r>
            <a:r>
              <a:rPr lang="fr-FR" u="sng" dirty="0">
                <a:solidFill>
                  <a:srgbClr val="FF0000"/>
                </a:solidFill>
              </a:rPr>
              <a:t>5587</a:t>
            </a:r>
            <a:r>
              <a:rPr lang="fr-FR" dirty="0">
                <a:solidFill>
                  <a:srgbClr val="FF0000"/>
                </a:solidFill>
              </a:rPr>
              <a:t> </a:t>
            </a:r>
            <a:r>
              <a:rPr lang="fr-FR" dirty="0"/>
              <a:t>clients en février 2023 </a:t>
            </a:r>
          </a:p>
        </p:txBody>
      </p:sp>
      <p:sp>
        <p:nvSpPr>
          <p:cNvPr id="9" name="ZoneTexte 8">
            <a:extLst>
              <a:ext uri="{FF2B5EF4-FFF2-40B4-BE49-F238E27FC236}">
                <a16:creationId xmlns:a16="http://schemas.microsoft.com/office/drawing/2014/main" id="{F8BCA16F-5FDC-0936-7EC4-59D8896D4FCA}"/>
              </a:ext>
            </a:extLst>
          </p:cNvPr>
          <p:cNvSpPr txBox="1"/>
          <p:nvPr/>
        </p:nvSpPr>
        <p:spPr>
          <a:xfrm>
            <a:off x="6695768" y="5477318"/>
            <a:ext cx="5053780" cy="369332"/>
          </a:xfrm>
          <a:prstGeom prst="rect">
            <a:avLst/>
          </a:prstGeom>
          <a:noFill/>
        </p:spPr>
        <p:txBody>
          <a:bodyPr wrap="square">
            <a:spAutoFit/>
          </a:bodyPr>
          <a:lstStyle/>
          <a:p>
            <a:pPr algn="ctr"/>
            <a:r>
              <a:rPr lang="fr-FR" dirty="0">
                <a:solidFill>
                  <a:srgbClr val="00B050"/>
                </a:solidFill>
              </a:rPr>
              <a:t>Max </a:t>
            </a:r>
            <a:r>
              <a:rPr lang="fr-FR" dirty="0"/>
              <a:t>: </a:t>
            </a:r>
            <a:r>
              <a:rPr lang="fr-FR" dirty="0">
                <a:solidFill>
                  <a:srgbClr val="00B050"/>
                </a:solidFill>
              </a:rPr>
              <a:t>6190 </a:t>
            </a:r>
            <a:r>
              <a:rPr lang="fr-FR" dirty="0"/>
              <a:t>clients  le mois d’Octobre 2021</a:t>
            </a:r>
          </a:p>
        </p:txBody>
      </p:sp>
      <p:sp>
        <p:nvSpPr>
          <p:cNvPr id="3" name="Titre 1">
            <a:extLst>
              <a:ext uri="{FF2B5EF4-FFF2-40B4-BE49-F238E27FC236}">
                <a16:creationId xmlns:a16="http://schemas.microsoft.com/office/drawing/2014/main" id="{33835D7E-A23C-7038-C363-3F135B3122DD}"/>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a:t>Nombre de clients uniques par mois</a:t>
            </a:r>
          </a:p>
        </p:txBody>
      </p:sp>
      <p:sp>
        <p:nvSpPr>
          <p:cNvPr id="8" name="Espace réservé du numéro de diapositive 7">
            <a:extLst>
              <a:ext uri="{FF2B5EF4-FFF2-40B4-BE49-F238E27FC236}">
                <a16:creationId xmlns:a16="http://schemas.microsoft.com/office/drawing/2014/main" id="{78A61B43-E762-38BC-9D69-0FD3094DC961}"/>
              </a:ext>
            </a:extLst>
          </p:cNvPr>
          <p:cNvSpPr>
            <a:spLocks noGrp="1"/>
          </p:cNvSpPr>
          <p:nvPr>
            <p:ph type="sldNum" sz="quarter" idx="12"/>
          </p:nvPr>
        </p:nvSpPr>
        <p:spPr/>
        <p:txBody>
          <a:bodyPr/>
          <a:lstStyle/>
          <a:p>
            <a:fld id="{5CA0101B-2B22-AF40-9AC3-C0A9D8EDFEB1}" type="slidenum">
              <a:rPr lang="fr-FR" smtClean="0"/>
              <a:t>8</a:t>
            </a:fld>
            <a:endParaRPr lang="fr-FR"/>
          </a:p>
        </p:txBody>
      </p:sp>
    </p:spTree>
    <p:extLst>
      <p:ext uri="{BB962C8B-B14F-4D97-AF65-F5344CB8AC3E}">
        <p14:creationId xmlns:p14="http://schemas.microsoft.com/office/powerpoint/2010/main" val="3935975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a:extLst>
              <a:ext uri="{FF2B5EF4-FFF2-40B4-BE49-F238E27FC236}">
                <a16:creationId xmlns:a16="http://schemas.microsoft.com/office/drawing/2014/main" id="{979AE662-669A-9DB8-A374-B0C323B11DB1}"/>
              </a:ext>
            </a:extLst>
          </p:cNvPr>
          <p:cNvPicPr>
            <a:picLocks noChangeAspect="1"/>
          </p:cNvPicPr>
          <p:nvPr/>
        </p:nvPicPr>
        <p:blipFill>
          <a:blip r:embed="rId2"/>
          <a:srcRect l="31499" r="-1" b="16570"/>
          <a:stretch/>
        </p:blipFill>
        <p:spPr>
          <a:xfrm>
            <a:off x="3038168" y="5808497"/>
            <a:ext cx="1879150" cy="646331"/>
          </a:xfrm>
          <a:prstGeom prst="rect">
            <a:avLst/>
          </a:prstGeom>
        </p:spPr>
      </p:pic>
      <p:pic>
        <p:nvPicPr>
          <p:cNvPr id="13" name="Image 12">
            <a:extLst>
              <a:ext uri="{FF2B5EF4-FFF2-40B4-BE49-F238E27FC236}">
                <a16:creationId xmlns:a16="http://schemas.microsoft.com/office/drawing/2014/main" id="{AE5DA912-2575-6536-8543-F063D078E41A}"/>
              </a:ext>
            </a:extLst>
          </p:cNvPr>
          <p:cNvPicPr>
            <a:picLocks noChangeAspect="1"/>
          </p:cNvPicPr>
          <p:nvPr/>
        </p:nvPicPr>
        <p:blipFill>
          <a:blip r:embed="rId3"/>
          <a:stretch>
            <a:fillRect/>
          </a:stretch>
        </p:blipFill>
        <p:spPr>
          <a:xfrm>
            <a:off x="9201448" y="5816118"/>
            <a:ext cx="1794678" cy="512765"/>
          </a:xfrm>
          <a:prstGeom prst="rect">
            <a:avLst/>
          </a:prstGeom>
        </p:spPr>
      </p:pic>
      <p:sp>
        <p:nvSpPr>
          <p:cNvPr id="4" name="ZoneTexte 3">
            <a:extLst>
              <a:ext uri="{FF2B5EF4-FFF2-40B4-BE49-F238E27FC236}">
                <a16:creationId xmlns:a16="http://schemas.microsoft.com/office/drawing/2014/main" id="{ED88C3D0-5E1E-3818-F63A-60EBD4B68294}"/>
              </a:ext>
            </a:extLst>
          </p:cNvPr>
          <p:cNvSpPr txBox="1"/>
          <p:nvPr/>
        </p:nvSpPr>
        <p:spPr>
          <a:xfrm>
            <a:off x="511507" y="5088196"/>
            <a:ext cx="4131469" cy="646331"/>
          </a:xfrm>
          <a:prstGeom prst="rect">
            <a:avLst/>
          </a:prstGeom>
          <a:noFill/>
        </p:spPr>
        <p:txBody>
          <a:bodyPr wrap="square">
            <a:spAutoFit/>
          </a:bodyPr>
          <a:lstStyle/>
          <a:p>
            <a:pPr algn="ctr"/>
            <a:r>
              <a:rPr lang="fr-FR" dirty="0">
                <a:solidFill>
                  <a:srgbClr val="FF0000"/>
                </a:solidFill>
              </a:rPr>
              <a:t>Min </a:t>
            </a:r>
            <a:r>
              <a:rPr lang="fr-FR" dirty="0"/>
              <a:t>: </a:t>
            </a:r>
            <a:r>
              <a:rPr lang="fr-FR" dirty="0">
                <a:solidFill>
                  <a:srgbClr val="FF0000"/>
                </a:solidFill>
              </a:rPr>
              <a:t>13 073  </a:t>
            </a:r>
            <a:r>
              <a:rPr lang="fr-FR" dirty="0"/>
              <a:t>transactions ont été effectuées le mois de Février </a:t>
            </a:r>
          </a:p>
        </p:txBody>
      </p:sp>
      <p:sp>
        <p:nvSpPr>
          <p:cNvPr id="6" name="ZoneTexte 5">
            <a:extLst>
              <a:ext uri="{FF2B5EF4-FFF2-40B4-BE49-F238E27FC236}">
                <a16:creationId xmlns:a16="http://schemas.microsoft.com/office/drawing/2014/main" id="{893C20A9-A5D4-34FA-7F91-CB6B764FC406}"/>
              </a:ext>
            </a:extLst>
          </p:cNvPr>
          <p:cNvSpPr txBox="1"/>
          <p:nvPr/>
        </p:nvSpPr>
        <p:spPr>
          <a:xfrm>
            <a:off x="6747170" y="5096260"/>
            <a:ext cx="4312444" cy="646331"/>
          </a:xfrm>
          <a:prstGeom prst="rect">
            <a:avLst/>
          </a:prstGeom>
          <a:noFill/>
        </p:spPr>
        <p:txBody>
          <a:bodyPr wrap="square">
            <a:spAutoFit/>
          </a:bodyPr>
          <a:lstStyle/>
          <a:p>
            <a:pPr algn="ctr"/>
            <a:r>
              <a:rPr lang="fr-FR" dirty="0">
                <a:solidFill>
                  <a:srgbClr val="00B050"/>
                </a:solidFill>
              </a:rPr>
              <a:t>Max </a:t>
            </a:r>
            <a:r>
              <a:rPr lang="fr-FR" dirty="0"/>
              <a:t>: </a:t>
            </a:r>
            <a:r>
              <a:rPr lang="fr-FR" dirty="0">
                <a:solidFill>
                  <a:srgbClr val="00B050"/>
                </a:solidFill>
              </a:rPr>
              <a:t>15 566</a:t>
            </a:r>
            <a:r>
              <a:rPr lang="fr-FR" dirty="0"/>
              <a:t> transactions ont été effectuées le mois de Décembre </a:t>
            </a:r>
          </a:p>
        </p:txBody>
      </p:sp>
      <p:pic>
        <p:nvPicPr>
          <p:cNvPr id="9" name="Image 8">
            <a:extLst>
              <a:ext uri="{FF2B5EF4-FFF2-40B4-BE49-F238E27FC236}">
                <a16:creationId xmlns:a16="http://schemas.microsoft.com/office/drawing/2014/main" id="{5FEDE1F8-E2A4-7231-DAC8-74E6C6DC7DE3}"/>
              </a:ext>
            </a:extLst>
          </p:cNvPr>
          <p:cNvPicPr>
            <a:picLocks noChangeAspect="1"/>
          </p:cNvPicPr>
          <p:nvPr/>
        </p:nvPicPr>
        <p:blipFill>
          <a:blip r:embed="rId4"/>
          <a:stretch>
            <a:fillRect/>
          </a:stretch>
        </p:blipFill>
        <p:spPr>
          <a:xfrm>
            <a:off x="442451" y="2033596"/>
            <a:ext cx="11307097" cy="3054600"/>
          </a:xfrm>
          <a:prstGeom prst="rect">
            <a:avLst/>
          </a:prstGeom>
        </p:spPr>
      </p:pic>
      <p:sp>
        <p:nvSpPr>
          <p:cNvPr id="3" name="Espace réservé du numéro de diapositive 2">
            <a:extLst>
              <a:ext uri="{FF2B5EF4-FFF2-40B4-BE49-F238E27FC236}">
                <a16:creationId xmlns:a16="http://schemas.microsoft.com/office/drawing/2014/main" id="{D1AFEB0E-CED8-525B-875E-7E5E563BFBF3}"/>
              </a:ext>
            </a:extLst>
          </p:cNvPr>
          <p:cNvSpPr>
            <a:spLocks noGrp="1"/>
          </p:cNvSpPr>
          <p:nvPr>
            <p:ph type="sldNum" sz="quarter" idx="12"/>
          </p:nvPr>
        </p:nvSpPr>
        <p:spPr/>
        <p:txBody>
          <a:bodyPr/>
          <a:lstStyle/>
          <a:p>
            <a:fld id="{5CA0101B-2B22-AF40-9AC3-C0A9D8EDFEB1}" type="slidenum">
              <a:rPr lang="fr-FR" smtClean="0"/>
              <a:t>9</a:t>
            </a:fld>
            <a:endParaRPr lang="fr-FR"/>
          </a:p>
        </p:txBody>
      </p:sp>
      <p:sp>
        <p:nvSpPr>
          <p:cNvPr id="8" name="Titre 1">
            <a:extLst>
              <a:ext uri="{FF2B5EF4-FFF2-40B4-BE49-F238E27FC236}">
                <a16:creationId xmlns:a16="http://schemas.microsoft.com/office/drawing/2014/main" id="{FD11FE14-8763-F46A-9407-80537C384A7D}"/>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a:t>Nombre de transactions par mois</a:t>
            </a:r>
          </a:p>
        </p:txBody>
      </p:sp>
    </p:spTree>
    <p:extLst>
      <p:ext uri="{BB962C8B-B14F-4D97-AF65-F5344CB8AC3E}">
        <p14:creationId xmlns:p14="http://schemas.microsoft.com/office/powerpoint/2010/main" val="485120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E4BBE745-38AC-C496-EAF9-EA66821D9382}"/>
              </a:ext>
            </a:extLst>
          </p:cNvPr>
          <p:cNvSpPr txBox="1"/>
          <p:nvPr/>
        </p:nvSpPr>
        <p:spPr>
          <a:xfrm>
            <a:off x="0" y="5182602"/>
            <a:ext cx="184731" cy="369332"/>
          </a:xfrm>
          <a:prstGeom prst="rect">
            <a:avLst/>
          </a:prstGeom>
          <a:solidFill>
            <a:schemeClr val="bg1">
              <a:lumMod val="95000"/>
            </a:schemeClr>
          </a:solidFill>
        </p:spPr>
        <p:txBody>
          <a:bodyPr wrap="none" rtlCol="0">
            <a:spAutoFit/>
          </a:bodyPr>
          <a:lstStyle/>
          <a:p>
            <a:endParaRPr lang="fr-FR" dirty="0"/>
          </a:p>
        </p:txBody>
      </p:sp>
      <p:pic>
        <p:nvPicPr>
          <p:cNvPr id="12" name="Image 11">
            <a:extLst>
              <a:ext uri="{FF2B5EF4-FFF2-40B4-BE49-F238E27FC236}">
                <a16:creationId xmlns:a16="http://schemas.microsoft.com/office/drawing/2014/main" id="{2B61F456-C916-ACFF-A5B2-97D3D2D1ACBD}"/>
              </a:ext>
            </a:extLst>
          </p:cNvPr>
          <p:cNvPicPr>
            <a:picLocks noChangeAspect="1"/>
          </p:cNvPicPr>
          <p:nvPr/>
        </p:nvPicPr>
        <p:blipFill>
          <a:blip r:embed="rId2"/>
          <a:stretch>
            <a:fillRect/>
          </a:stretch>
        </p:blipFill>
        <p:spPr>
          <a:xfrm>
            <a:off x="442450" y="1986115"/>
            <a:ext cx="11307097" cy="2922753"/>
          </a:xfrm>
          <a:prstGeom prst="rect">
            <a:avLst/>
          </a:prstGeom>
        </p:spPr>
      </p:pic>
      <p:pic>
        <p:nvPicPr>
          <p:cNvPr id="18" name="Image 17">
            <a:extLst>
              <a:ext uri="{FF2B5EF4-FFF2-40B4-BE49-F238E27FC236}">
                <a16:creationId xmlns:a16="http://schemas.microsoft.com/office/drawing/2014/main" id="{AD8D0FF7-492F-0B40-2734-F29BE9BA0D96}"/>
              </a:ext>
            </a:extLst>
          </p:cNvPr>
          <p:cNvPicPr>
            <a:picLocks noChangeAspect="1"/>
          </p:cNvPicPr>
          <p:nvPr/>
        </p:nvPicPr>
        <p:blipFill>
          <a:blip r:embed="rId3"/>
          <a:srcRect t="19118" b="20161"/>
          <a:stretch/>
        </p:blipFill>
        <p:spPr>
          <a:xfrm>
            <a:off x="3223105" y="5827089"/>
            <a:ext cx="2006600" cy="524387"/>
          </a:xfrm>
          <a:prstGeom prst="rect">
            <a:avLst/>
          </a:prstGeom>
        </p:spPr>
      </p:pic>
      <p:pic>
        <p:nvPicPr>
          <p:cNvPr id="20" name="Image 19">
            <a:extLst>
              <a:ext uri="{FF2B5EF4-FFF2-40B4-BE49-F238E27FC236}">
                <a16:creationId xmlns:a16="http://schemas.microsoft.com/office/drawing/2014/main" id="{7D6BADEC-7C6F-CD26-0BFE-0D09643426D8}"/>
              </a:ext>
            </a:extLst>
          </p:cNvPr>
          <p:cNvPicPr>
            <a:picLocks noChangeAspect="1"/>
          </p:cNvPicPr>
          <p:nvPr/>
        </p:nvPicPr>
        <p:blipFill>
          <a:blip r:embed="rId4"/>
          <a:srcRect t="14823" b="24926"/>
          <a:stretch/>
        </p:blipFill>
        <p:spPr>
          <a:xfrm>
            <a:off x="9212902" y="5813295"/>
            <a:ext cx="2006600" cy="420850"/>
          </a:xfrm>
          <a:prstGeom prst="rect">
            <a:avLst/>
          </a:prstGeom>
        </p:spPr>
      </p:pic>
      <p:sp>
        <p:nvSpPr>
          <p:cNvPr id="5" name="ZoneTexte 4">
            <a:extLst>
              <a:ext uri="{FF2B5EF4-FFF2-40B4-BE49-F238E27FC236}">
                <a16:creationId xmlns:a16="http://schemas.microsoft.com/office/drawing/2014/main" id="{CC05ED03-04F2-27BC-44FC-AF62E33A7A35}"/>
              </a:ext>
            </a:extLst>
          </p:cNvPr>
          <p:cNvSpPr txBox="1"/>
          <p:nvPr/>
        </p:nvSpPr>
        <p:spPr>
          <a:xfrm>
            <a:off x="248384" y="5182969"/>
            <a:ext cx="3790216" cy="646331"/>
          </a:xfrm>
          <a:prstGeom prst="rect">
            <a:avLst/>
          </a:prstGeom>
          <a:noFill/>
        </p:spPr>
        <p:txBody>
          <a:bodyPr wrap="square">
            <a:spAutoFit/>
          </a:bodyPr>
          <a:lstStyle/>
          <a:p>
            <a:pPr algn="ctr"/>
            <a:r>
              <a:rPr lang="fr-FR" dirty="0">
                <a:solidFill>
                  <a:srgbClr val="FF0000"/>
                </a:solidFill>
              </a:rPr>
              <a:t>Minimum </a:t>
            </a:r>
            <a:r>
              <a:rPr lang="fr-FR" dirty="0"/>
              <a:t> sur le mois de Juillet avec </a:t>
            </a:r>
            <a:r>
              <a:rPr lang="fr-FR" i="1" dirty="0">
                <a:solidFill>
                  <a:srgbClr val="FF0000"/>
                </a:solidFill>
              </a:rPr>
              <a:t>24.738K</a:t>
            </a:r>
            <a:r>
              <a:rPr lang="fr-FR" dirty="0">
                <a:solidFill>
                  <a:srgbClr val="FF0000"/>
                </a:solidFill>
              </a:rPr>
              <a:t> </a:t>
            </a:r>
            <a:r>
              <a:rPr lang="fr-FR" dirty="0"/>
              <a:t>produits vendues</a:t>
            </a:r>
          </a:p>
        </p:txBody>
      </p:sp>
      <p:sp>
        <p:nvSpPr>
          <p:cNvPr id="7" name="ZoneTexte 6">
            <a:extLst>
              <a:ext uri="{FF2B5EF4-FFF2-40B4-BE49-F238E27FC236}">
                <a16:creationId xmlns:a16="http://schemas.microsoft.com/office/drawing/2014/main" id="{380B60CF-526E-A6C5-186D-A796EF5E98F2}"/>
              </a:ext>
            </a:extLst>
          </p:cNvPr>
          <p:cNvSpPr txBox="1"/>
          <p:nvPr/>
        </p:nvSpPr>
        <p:spPr>
          <a:xfrm>
            <a:off x="7429285" y="5037916"/>
            <a:ext cx="3790217" cy="646331"/>
          </a:xfrm>
          <a:prstGeom prst="rect">
            <a:avLst/>
          </a:prstGeom>
          <a:noFill/>
        </p:spPr>
        <p:txBody>
          <a:bodyPr wrap="square">
            <a:spAutoFit/>
          </a:bodyPr>
          <a:lstStyle/>
          <a:p>
            <a:pPr algn="ctr"/>
            <a:r>
              <a:rPr lang="fr-FR" dirty="0">
                <a:solidFill>
                  <a:schemeClr val="accent6"/>
                </a:solidFill>
              </a:rPr>
              <a:t>Maximum </a:t>
            </a:r>
            <a:r>
              <a:rPr lang="fr-FR" dirty="0"/>
              <a:t>sur le mois de Septembre avec </a:t>
            </a:r>
            <a:r>
              <a:rPr lang="fr-FR" i="1" dirty="0">
                <a:solidFill>
                  <a:schemeClr val="accent6"/>
                </a:solidFill>
              </a:rPr>
              <a:t>33.314K</a:t>
            </a:r>
            <a:r>
              <a:rPr lang="fr-FR" dirty="0"/>
              <a:t> produits vendues</a:t>
            </a:r>
          </a:p>
        </p:txBody>
      </p:sp>
      <p:sp>
        <p:nvSpPr>
          <p:cNvPr id="3" name="Espace réservé du numéro de diapositive 2">
            <a:extLst>
              <a:ext uri="{FF2B5EF4-FFF2-40B4-BE49-F238E27FC236}">
                <a16:creationId xmlns:a16="http://schemas.microsoft.com/office/drawing/2014/main" id="{6815C572-07A8-0F7E-1CA0-847CA110917C}"/>
              </a:ext>
            </a:extLst>
          </p:cNvPr>
          <p:cNvSpPr>
            <a:spLocks noGrp="1"/>
          </p:cNvSpPr>
          <p:nvPr>
            <p:ph type="sldNum" sz="quarter" idx="12"/>
          </p:nvPr>
        </p:nvSpPr>
        <p:spPr/>
        <p:txBody>
          <a:bodyPr/>
          <a:lstStyle/>
          <a:p>
            <a:fld id="{5CA0101B-2B22-AF40-9AC3-C0A9D8EDFEB1}" type="slidenum">
              <a:rPr lang="fr-FR" smtClean="0"/>
              <a:t>10</a:t>
            </a:fld>
            <a:endParaRPr lang="fr-FR"/>
          </a:p>
        </p:txBody>
      </p:sp>
      <p:sp>
        <p:nvSpPr>
          <p:cNvPr id="8" name="Titre 1">
            <a:extLst>
              <a:ext uri="{FF2B5EF4-FFF2-40B4-BE49-F238E27FC236}">
                <a16:creationId xmlns:a16="http://schemas.microsoft.com/office/drawing/2014/main" id="{5E4D3BA0-FD11-0AC5-C76F-60E632A999A7}"/>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a:t>Nombre de Produits vendus par mois</a:t>
            </a:r>
          </a:p>
        </p:txBody>
      </p:sp>
    </p:spTree>
    <p:extLst>
      <p:ext uri="{BB962C8B-B14F-4D97-AF65-F5344CB8AC3E}">
        <p14:creationId xmlns:p14="http://schemas.microsoft.com/office/powerpoint/2010/main" val="2732257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A188785E-A9E7-D1AA-F3CC-9995746C7975}"/>
              </a:ext>
            </a:extLst>
          </p:cNvPr>
          <p:cNvPicPr>
            <a:picLocks noGrp="1" noChangeAspect="1"/>
          </p:cNvPicPr>
          <p:nvPr>
            <p:ph idx="1"/>
          </p:nvPr>
        </p:nvPicPr>
        <p:blipFill>
          <a:blip r:embed="rId2"/>
          <a:srcRect t="27038"/>
          <a:stretch/>
        </p:blipFill>
        <p:spPr>
          <a:xfrm>
            <a:off x="1199535" y="2097776"/>
            <a:ext cx="9358765" cy="4140792"/>
          </a:xfrm>
        </p:spPr>
      </p:pic>
      <p:sp>
        <p:nvSpPr>
          <p:cNvPr id="3" name="Espace réservé du numéro de diapositive 2">
            <a:extLst>
              <a:ext uri="{FF2B5EF4-FFF2-40B4-BE49-F238E27FC236}">
                <a16:creationId xmlns:a16="http://schemas.microsoft.com/office/drawing/2014/main" id="{43B88FE8-021E-C4C4-962A-54CFF8717563}"/>
              </a:ext>
            </a:extLst>
          </p:cNvPr>
          <p:cNvSpPr>
            <a:spLocks noGrp="1"/>
          </p:cNvSpPr>
          <p:nvPr>
            <p:ph type="sldNum" sz="quarter" idx="12"/>
          </p:nvPr>
        </p:nvSpPr>
        <p:spPr/>
        <p:txBody>
          <a:bodyPr/>
          <a:lstStyle/>
          <a:p>
            <a:fld id="{5CA0101B-2B22-AF40-9AC3-C0A9D8EDFEB1}" type="slidenum">
              <a:rPr lang="fr-FR" smtClean="0"/>
              <a:t>11</a:t>
            </a:fld>
            <a:endParaRPr lang="fr-FR"/>
          </a:p>
        </p:txBody>
      </p:sp>
      <p:sp>
        <p:nvSpPr>
          <p:cNvPr id="4" name="Titre 1">
            <a:extLst>
              <a:ext uri="{FF2B5EF4-FFF2-40B4-BE49-F238E27FC236}">
                <a16:creationId xmlns:a16="http://schemas.microsoft.com/office/drawing/2014/main" id="{A2D6CEE6-7A0E-AACC-805D-9E7269F57625}"/>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a:t>CA MENSUEL</a:t>
            </a:r>
          </a:p>
        </p:txBody>
      </p:sp>
    </p:spTree>
    <p:extLst>
      <p:ext uri="{BB962C8B-B14F-4D97-AF65-F5344CB8AC3E}">
        <p14:creationId xmlns:p14="http://schemas.microsoft.com/office/powerpoint/2010/main" val="551977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9FA06-6901-145E-D641-41E5A9C3EFFD}"/>
            </a:ext>
          </a:extLst>
        </p:cNvPr>
        <p:cNvGrpSpPr/>
        <p:nvPr/>
      </p:nvGrpSpPr>
      <p:grpSpPr>
        <a:xfrm>
          <a:off x="0" y="0"/>
          <a:ext cx="0" cy="0"/>
          <a:chOff x="0" y="0"/>
          <a:chExt cx="0" cy="0"/>
        </a:xfrm>
      </p:grpSpPr>
      <p:sp>
        <p:nvSpPr>
          <p:cNvPr id="10" name="ZoneTexte 9">
            <a:extLst>
              <a:ext uri="{FF2B5EF4-FFF2-40B4-BE49-F238E27FC236}">
                <a16:creationId xmlns:a16="http://schemas.microsoft.com/office/drawing/2014/main" id="{7F8B378C-2BC7-248A-693E-FFF0E5814444}"/>
              </a:ext>
            </a:extLst>
          </p:cNvPr>
          <p:cNvSpPr txBox="1"/>
          <p:nvPr/>
        </p:nvSpPr>
        <p:spPr>
          <a:xfrm>
            <a:off x="442451" y="5566882"/>
            <a:ext cx="10835149" cy="646331"/>
          </a:xfrm>
          <a:prstGeom prst="rect">
            <a:avLst/>
          </a:prstGeom>
          <a:noFill/>
        </p:spPr>
        <p:txBody>
          <a:bodyPr wrap="square" rtlCol="0">
            <a:spAutoFit/>
          </a:bodyPr>
          <a:lstStyle/>
          <a:p>
            <a:r>
              <a:rPr lang="fr-FR" dirty="0"/>
              <a:t>Pour le mois Décembre, la catégorie la moins chère (Catégorie 0) est la plus vendue mais c’est la Catégorie 1 qui génère le plus de CA</a:t>
            </a:r>
          </a:p>
        </p:txBody>
      </p:sp>
      <p:pic>
        <p:nvPicPr>
          <p:cNvPr id="8" name="Image 7">
            <a:extLst>
              <a:ext uri="{FF2B5EF4-FFF2-40B4-BE49-F238E27FC236}">
                <a16:creationId xmlns:a16="http://schemas.microsoft.com/office/drawing/2014/main" id="{901C06DD-734C-B850-8C0D-39DEFBB3B80E}"/>
              </a:ext>
            </a:extLst>
          </p:cNvPr>
          <p:cNvPicPr>
            <a:picLocks noChangeAspect="1"/>
          </p:cNvPicPr>
          <p:nvPr/>
        </p:nvPicPr>
        <p:blipFill>
          <a:blip r:embed="rId2"/>
          <a:stretch>
            <a:fillRect/>
          </a:stretch>
        </p:blipFill>
        <p:spPr>
          <a:xfrm>
            <a:off x="442451" y="1949040"/>
            <a:ext cx="5303985" cy="3289812"/>
          </a:xfrm>
          <a:prstGeom prst="rect">
            <a:avLst/>
          </a:prstGeom>
        </p:spPr>
      </p:pic>
      <p:sp>
        <p:nvSpPr>
          <p:cNvPr id="3" name="Espace réservé du numéro de diapositive 2">
            <a:extLst>
              <a:ext uri="{FF2B5EF4-FFF2-40B4-BE49-F238E27FC236}">
                <a16:creationId xmlns:a16="http://schemas.microsoft.com/office/drawing/2014/main" id="{7DEF9F87-4554-A1EB-643D-E8B3D1202380}"/>
              </a:ext>
            </a:extLst>
          </p:cNvPr>
          <p:cNvSpPr>
            <a:spLocks noGrp="1"/>
          </p:cNvSpPr>
          <p:nvPr>
            <p:ph type="sldNum" sz="quarter" idx="12"/>
          </p:nvPr>
        </p:nvSpPr>
        <p:spPr/>
        <p:txBody>
          <a:bodyPr/>
          <a:lstStyle/>
          <a:p>
            <a:fld id="{5CA0101B-2B22-AF40-9AC3-C0A9D8EDFEB1}" type="slidenum">
              <a:rPr lang="fr-FR" smtClean="0"/>
              <a:t>12</a:t>
            </a:fld>
            <a:endParaRPr lang="fr-FR"/>
          </a:p>
        </p:txBody>
      </p:sp>
      <p:sp>
        <p:nvSpPr>
          <p:cNvPr id="4" name="Titre 1">
            <a:extLst>
              <a:ext uri="{FF2B5EF4-FFF2-40B4-BE49-F238E27FC236}">
                <a16:creationId xmlns:a16="http://schemas.microsoft.com/office/drawing/2014/main" id="{9E768FB6-AA40-4670-7720-0249581D1ABE}"/>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a:t>ZOOM du CA en décembre</a:t>
            </a:r>
          </a:p>
        </p:txBody>
      </p:sp>
      <p:pic>
        <p:nvPicPr>
          <p:cNvPr id="11" name="Image 10">
            <a:extLst>
              <a:ext uri="{FF2B5EF4-FFF2-40B4-BE49-F238E27FC236}">
                <a16:creationId xmlns:a16="http://schemas.microsoft.com/office/drawing/2014/main" id="{4DDAC2B1-22CB-2884-FBF3-B04041161318}"/>
              </a:ext>
            </a:extLst>
          </p:cNvPr>
          <p:cNvPicPr>
            <a:picLocks noChangeAspect="1"/>
          </p:cNvPicPr>
          <p:nvPr/>
        </p:nvPicPr>
        <p:blipFill>
          <a:blip r:embed="rId3"/>
          <a:stretch>
            <a:fillRect/>
          </a:stretch>
        </p:blipFill>
        <p:spPr>
          <a:xfrm>
            <a:off x="6445565" y="1949040"/>
            <a:ext cx="5303983" cy="3289812"/>
          </a:xfrm>
          <a:prstGeom prst="rect">
            <a:avLst/>
          </a:prstGeom>
        </p:spPr>
      </p:pic>
    </p:spTree>
    <p:extLst>
      <p:ext uri="{BB962C8B-B14F-4D97-AF65-F5344CB8AC3E}">
        <p14:creationId xmlns:p14="http://schemas.microsoft.com/office/powerpoint/2010/main" val="2485246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60DB96BA-38A9-A644-A68C-FEA967C87BB5}"/>
              </a:ext>
            </a:extLst>
          </p:cNvPr>
          <p:cNvSpPr txBox="1"/>
          <p:nvPr/>
        </p:nvSpPr>
        <p:spPr>
          <a:xfrm>
            <a:off x="442450" y="5120933"/>
            <a:ext cx="7590505" cy="923330"/>
          </a:xfrm>
          <a:prstGeom prst="rect">
            <a:avLst/>
          </a:prstGeom>
          <a:noFill/>
        </p:spPr>
        <p:txBody>
          <a:bodyPr wrap="square" rtlCol="0">
            <a:spAutoFit/>
          </a:bodyPr>
          <a:lstStyle/>
          <a:p>
            <a:r>
              <a:rPr lang="fr-FR" dirty="0"/>
              <a:t>Les catégories présentes sont la Catégorie 1 et 2, on remarque l’absence de la Catégorie 0 sur le TOP 10 des produits par CA. Ceci est expliqué par ces prix faibles par rapport aux Catégories 1 et 2</a:t>
            </a:r>
          </a:p>
        </p:txBody>
      </p:sp>
      <p:pic>
        <p:nvPicPr>
          <p:cNvPr id="17" name="Image 16">
            <a:extLst>
              <a:ext uri="{FF2B5EF4-FFF2-40B4-BE49-F238E27FC236}">
                <a16:creationId xmlns:a16="http://schemas.microsoft.com/office/drawing/2014/main" id="{B8C8D86F-B8EA-BFF6-5999-DA8128BE8571}"/>
              </a:ext>
            </a:extLst>
          </p:cNvPr>
          <p:cNvPicPr>
            <a:picLocks noChangeAspect="1"/>
          </p:cNvPicPr>
          <p:nvPr/>
        </p:nvPicPr>
        <p:blipFill>
          <a:blip r:embed="rId2"/>
          <a:stretch>
            <a:fillRect/>
          </a:stretch>
        </p:blipFill>
        <p:spPr>
          <a:xfrm>
            <a:off x="442451" y="2054942"/>
            <a:ext cx="6096000" cy="2850436"/>
          </a:xfrm>
          <a:prstGeom prst="rect">
            <a:avLst/>
          </a:prstGeom>
        </p:spPr>
      </p:pic>
      <p:sp>
        <p:nvSpPr>
          <p:cNvPr id="13" name="ZoneTexte 12">
            <a:extLst>
              <a:ext uri="{FF2B5EF4-FFF2-40B4-BE49-F238E27FC236}">
                <a16:creationId xmlns:a16="http://schemas.microsoft.com/office/drawing/2014/main" id="{877330EB-9416-5A24-B53C-372DAA232D9F}"/>
              </a:ext>
            </a:extLst>
          </p:cNvPr>
          <p:cNvSpPr txBox="1"/>
          <p:nvPr/>
        </p:nvSpPr>
        <p:spPr>
          <a:xfrm>
            <a:off x="6430208" y="3402100"/>
            <a:ext cx="1897714" cy="646331"/>
          </a:xfrm>
          <a:prstGeom prst="rect">
            <a:avLst/>
          </a:prstGeom>
          <a:noFill/>
        </p:spPr>
        <p:txBody>
          <a:bodyPr wrap="square">
            <a:spAutoFit/>
          </a:bodyPr>
          <a:lstStyle/>
          <a:p>
            <a:r>
              <a:rPr lang="fr-FR" sz="1800" dirty="0">
                <a:solidFill>
                  <a:srgbClr val="FF0000"/>
                </a:solidFill>
              </a:rPr>
              <a:t>Min :</a:t>
            </a:r>
            <a:r>
              <a:rPr lang="fr-FR" sz="1800" dirty="0"/>
              <a:t> </a:t>
            </a:r>
            <a:r>
              <a:rPr lang="fr-FR" dirty="0"/>
              <a:t>53522,18 €</a:t>
            </a:r>
            <a:endParaRPr lang="fr-FR" sz="1800" dirty="0"/>
          </a:p>
          <a:p>
            <a:r>
              <a:rPr lang="fr-FR" sz="1800" dirty="0">
                <a:solidFill>
                  <a:schemeClr val="accent6"/>
                </a:solidFill>
              </a:rPr>
              <a:t>Max </a:t>
            </a:r>
            <a:r>
              <a:rPr lang="fr-FR" dirty="0">
                <a:solidFill>
                  <a:schemeClr val="accent6"/>
                </a:solidFill>
              </a:rPr>
              <a:t>: </a:t>
            </a:r>
            <a:r>
              <a:rPr lang="fr-FR" sz="1800" dirty="0"/>
              <a:t>94893,50 €</a:t>
            </a:r>
          </a:p>
        </p:txBody>
      </p:sp>
      <p:sp>
        <p:nvSpPr>
          <p:cNvPr id="4" name="Espace réservé du numéro de diapositive 3">
            <a:extLst>
              <a:ext uri="{FF2B5EF4-FFF2-40B4-BE49-F238E27FC236}">
                <a16:creationId xmlns:a16="http://schemas.microsoft.com/office/drawing/2014/main" id="{3168E2BB-F318-9688-1D5F-658062443671}"/>
              </a:ext>
            </a:extLst>
          </p:cNvPr>
          <p:cNvSpPr>
            <a:spLocks noGrp="1"/>
          </p:cNvSpPr>
          <p:nvPr>
            <p:ph type="sldNum" sz="quarter" idx="12"/>
          </p:nvPr>
        </p:nvSpPr>
        <p:spPr/>
        <p:txBody>
          <a:bodyPr/>
          <a:lstStyle/>
          <a:p>
            <a:fld id="{5CA0101B-2B22-AF40-9AC3-C0A9D8EDFEB1}" type="slidenum">
              <a:rPr lang="fr-FR" smtClean="0"/>
              <a:t>13</a:t>
            </a:fld>
            <a:endParaRPr lang="fr-FR"/>
          </a:p>
        </p:txBody>
      </p:sp>
      <p:sp>
        <p:nvSpPr>
          <p:cNvPr id="6" name="Titre 1">
            <a:extLst>
              <a:ext uri="{FF2B5EF4-FFF2-40B4-BE49-F238E27FC236}">
                <a16:creationId xmlns:a16="http://schemas.microsoft.com/office/drawing/2014/main" id="{1C50B040-FC77-A491-529D-BF68D13668B7}"/>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a:t>Top 10 des produits par chiffre d'affaires</a:t>
            </a:r>
          </a:p>
        </p:txBody>
      </p:sp>
      <p:pic>
        <p:nvPicPr>
          <p:cNvPr id="9" name="Image 8">
            <a:extLst>
              <a:ext uri="{FF2B5EF4-FFF2-40B4-BE49-F238E27FC236}">
                <a16:creationId xmlns:a16="http://schemas.microsoft.com/office/drawing/2014/main" id="{2928CDF9-73C0-5AB5-71CF-4DFBCB10CD5F}"/>
              </a:ext>
            </a:extLst>
          </p:cNvPr>
          <p:cNvPicPr>
            <a:picLocks noChangeAspect="1"/>
          </p:cNvPicPr>
          <p:nvPr/>
        </p:nvPicPr>
        <p:blipFill>
          <a:blip r:embed="rId3"/>
          <a:stretch>
            <a:fillRect/>
          </a:stretch>
        </p:blipFill>
        <p:spPr>
          <a:xfrm>
            <a:off x="8490370" y="4126491"/>
            <a:ext cx="2831109" cy="2194771"/>
          </a:xfrm>
          <a:prstGeom prst="rect">
            <a:avLst/>
          </a:prstGeom>
        </p:spPr>
      </p:pic>
      <p:pic>
        <p:nvPicPr>
          <p:cNvPr id="11" name="Image 10">
            <a:extLst>
              <a:ext uri="{FF2B5EF4-FFF2-40B4-BE49-F238E27FC236}">
                <a16:creationId xmlns:a16="http://schemas.microsoft.com/office/drawing/2014/main" id="{24F79A3B-26F8-ABB0-F2A4-AADE788FED3F}"/>
              </a:ext>
            </a:extLst>
          </p:cNvPr>
          <p:cNvPicPr>
            <a:picLocks noChangeAspect="1"/>
          </p:cNvPicPr>
          <p:nvPr/>
        </p:nvPicPr>
        <p:blipFill>
          <a:blip r:embed="rId4"/>
          <a:stretch>
            <a:fillRect/>
          </a:stretch>
        </p:blipFill>
        <p:spPr>
          <a:xfrm>
            <a:off x="8416413" y="1927122"/>
            <a:ext cx="3194396" cy="2123767"/>
          </a:xfrm>
          <a:prstGeom prst="rect">
            <a:avLst/>
          </a:prstGeom>
        </p:spPr>
      </p:pic>
    </p:spTree>
    <p:extLst>
      <p:ext uri="{BB962C8B-B14F-4D97-AF65-F5344CB8AC3E}">
        <p14:creationId xmlns:p14="http://schemas.microsoft.com/office/powerpoint/2010/main" val="1188433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5BADA7F4-FF44-41E8-488C-A55007B54FE6}"/>
              </a:ext>
            </a:extLst>
          </p:cNvPr>
          <p:cNvSpPr txBox="1"/>
          <p:nvPr/>
        </p:nvSpPr>
        <p:spPr>
          <a:xfrm>
            <a:off x="7697988" y="2222141"/>
            <a:ext cx="3284908" cy="1477328"/>
          </a:xfrm>
          <a:prstGeom prst="rect">
            <a:avLst/>
          </a:prstGeom>
          <a:noFill/>
        </p:spPr>
        <p:txBody>
          <a:bodyPr wrap="square" rtlCol="0">
            <a:spAutoFit/>
          </a:bodyPr>
          <a:lstStyle/>
          <a:p>
            <a:r>
              <a:rPr lang="fr-FR" dirty="0"/>
              <a:t>On a que la catégorie 0 qui est présente sur le flop des 10 produits par chiffre d’affaires car c’est la catégorie </a:t>
            </a:r>
          </a:p>
          <a:p>
            <a:r>
              <a:rPr lang="fr-FR" dirty="0"/>
              <a:t>avec les produits les moins chers</a:t>
            </a:r>
          </a:p>
        </p:txBody>
      </p:sp>
      <p:pic>
        <p:nvPicPr>
          <p:cNvPr id="7" name="Image 6">
            <a:extLst>
              <a:ext uri="{FF2B5EF4-FFF2-40B4-BE49-F238E27FC236}">
                <a16:creationId xmlns:a16="http://schemas.microsoft.com/office/drawing/2014/main" id="{7B11F5D6-A02A-99D4-1AE0-F1A20E0FA5CB}"/>
              </a:ext>
            </a:extLst>
          </p:cNvPr>
          <p:cNvPicPr>
            <a:picLocks noChangeAspect="1"/>
          </p:cNvPicPr>
          <p:nvPr/>
        </p:nvPicPr>
        <p:blipFill>
          <a:blip r:embed="rId2"/>
          <a:stretch>
            <a:fillRect/>
          </a:stretch>
        </p:blipFill>
        <p:spPr>
          <a:xfrm>
            <a:off x="485622" y="2227032"/>
            <a:ext cx="7016392" cy="3666031"/>
          </a:xfrm>
          <a:prstGeom prst="rect">
            <a:avLst/>
          </a:prstGeom>
        </p:spPr>
      </p:pic>
      <p:sp>
        <p:nvSpPr>
          <p:cNvPr id="4" name="Espace réservé du numéro de diapositive 3">
            <a:extLst>
              <a:ext uri="{FF2B5EF4-FFF2-40B4-BE49-F238E27FC236}">
                <a16:creationId xmlns:a16="http://schemas.microsoft.com/office/drawing/2014/main" id="{6B81D246-6E74-5736-0B85-CFFD20AB2256}"/>
              </a:ext>
            </a:extLst>
          </p:cNvPr>
          <p:cNvSpPr>
            <a:spLocks noGrp="1"/>
          </p:cNvSpPr>
          <p:nvPr>
            <p:ph type="sldNum" sz="quarter" idx="12"/>
          </p:nvPr>
        </p:nvSpPr>
        <p:spPr/>
        <p:txBody>
          <a:bodyPr/>
          <a:lstStyle/>
          <a:p>
            <a:fld id="{5CA0101B-2B22-AF40-9AC3-C0A9D8EDFEB1}" type="slidenum">
              <a:rPr lang="fr-FR" smtClean="0"/>
              <a:t>14</a:t>
            </a:fld>
            <a:endParaRPr lang="fr-FR"/>
          </a:p>
        </p:txBody>
      </p:sp>
      <p:sp>
        <p:nvSpPr>
          <p:cNvPr id="5" name="ZoneTexte 4">
            <a:extLst>
              <a:ext uri="{FF2B5EF4-FFF2-40B4-BE49-F238E27FC236}">
                <a16:creationId xmlns:a16="http://schemas.microsoft.com/office/drawing/2014/main" id="{0969D8D7-C471-B8F8-2FDA-90267D3133C8}"/>
              </a:ext>
            </a:extLst>
          </p:cNvPr>
          <p:cNvSpPr txBox="1"/>
          <p:nvPr/>
        </p:nvSpPr>
        <p:spPr>
          <a:xfrm>
            <a:off x="485621" y="5674931"/>
            <a:ext cx="1897714" cy="646331"/>
          </a:xfrm>
          <a:prstGeom prst="rect">
            <a:avLst/>
          </a:prstGeom>
          <a:noFill/>
        </p:spPr>
        <p:txBody>
          <a:bodyPr wrap="square">
            <a:spAutoFit/>
          </a:bodyPr>
          <a:lstStyle/>
          <a:p>
            <a:r>
              <a:rPr lang="fr-FR" sz="1800" dirty="0">
                <a:solidFill>
                  <a:srgbClr val="FF0000"/>
                </a:solidFill>
              </a:rPr>
              <a:t>Min :</a:t>
            </a:r>
            <a:r>
              <a:rPr lang="fr-FR" sz="1800" dirty="0"/>
              <a:t> </a:t>
            </a:r>
            <a:r>
              <a:rPr lang="fr-FR" dirty="0"/>
              <a:t>0,99 €</a:t>
            </a:r>
            <a:endParaRPr lang="fr-FR" sz="1800" dirty="0"/>
          </a:p>
          <a:p>
            <a:r>
              <a:rPr lang="fr-FR" sz="1800" dirty="0">
                <a:solidFill>
                  <a:schemeClr val="accent6"/>
                </a:solidFill>
              </a:rPr>
              <a:t>Max </a:t>
            </a:r>
            <a:r>
              <a:rPr lang="fr-FR" dirty="0">
                <a:solidFill>
                  <a:schemeClr val="accent6"/>
                </a:solidFill>
              </a:rPr>
              <a:t>: </a:t>
            </a:r>
            <a:r>
              <a:rPr lang="fr-FR" sz="1800" dirty="0"/>
              <a:t>2,56 €</a:t>
            </a:r>
          </a:p>
        </p:txBody>
      </p:sp>
      <p:pic>
        <p:nvPicPr>
          <p:cNvPr id="9" name="Image 8">
            <a:extLst>
              <a:ext uri="{FF2B5EF4-FFF2-40B4-BE49-F238E27FC236}">
                <a16:creationId xmlns:a16="http://schemas.microsoft.com/office/drawing/2014/main" id="{401A5603-29B1-5222-E8B7-37E9E2834618}"/>
              </a:ext>
            </a:extLst>
          </p:cNvPr>
          <p:cNvPicPr>
            <a:picLocks noChangeAspect="1"/>
          </p:cNvPicPr>
          <p:nvPr/>
        </p:nvPicPr>
        <p:blipFill>
          <a:blip r:embed="rId3"/>
          <a:stretch>
            <a:fillRect/>
          </a:stretch>
        </p:blipFill>
        <p:spPr>
          <a:xfrm>
            <a:off x="7697988" y="3737108"/>
            <a:ext cx="3612812" cy="2418736"/>
          </a:xfrm>
          <a:prstGeom prst="rect">
            <a:avLst/>
          </a:prstGeom>
        </p:spPr>
      </p:pic>
      <p:sp>
        <p:nvSpPr>
          <p:cNvPr id="12" name="Titre 1">
            <a:extLst>
              <a:ext uri="{FF2B5EF4-FFF2-40B4-BE49-F238E27FC236}">
                <a16:creationId xmlns:a16="http://schemas.microsoft.com/office/drawing/2014/main" id="{875D00C3-279C-7488-C7B7-5AE4E5A50B39}"/>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err="1"/>
              <a:t>FLOp</a:t>
            </a:r>
            <a:r>
              <a:rPr lang="fr-FR" b="1" dirty="0"/>
              <a:t> 10 des produits par chiffre d'affaires</a:t>
            </a:r>
          </a:p>
        </p:txBody>
      </p:sp>
    </p:spTree>
    <p:extLst>
      <p:ext uri="{BB962C8B-B14F-4D97-AF65-F5344CB8AC3E}">
        <p14:creationId xmlns:p14="http://schemas.microsoft.com/office/powerpoint/2010/main" val="1271914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91306249-E049-F30A-738A-47E429C0DC15}"/>
              </a:ext>
            </a:extLst>
          </p:cNvPr>
          <p:cNvPicPr>
            <a:picLocks noChangeAspect="1"/>
          </p:cNvPicPr>
          <p:nvPr/>
        </p:nvPicPr>
        <p:blipFill>
          <a:blip r:embed="rId2"/>
          <a:stretch>
            <a:fillRect/>
          </a:stretch>
        </p:blipFill>
        <p:spPr>
          <a:xfrm>
            <a:off x="3243262" y="2195512"/>
            <a:ext cx="5705475" cy="4362450"/>
          </a:xfrm>
          <a:prstGeom prst="rect">
            <a:avLst/>
          </a:prstGeom>
        </p:spPr>
      </p:pic>
      <p:sp>
        <p:nvSpPr>
          <p:cNvPr id="2" name="Espace réservé du numéro de diapositive 1">
            <a:extLst>
              <a:ext uri="{FF2B5EF4-FFF2-40B4-BE49-F238E27FC236}">
                <a16:creationId xmlns:a16="http://schemas.microsoft.com/office/drawing/2014/main" id="{D40D0F7E-2357-443C-BCE7-EAF5A1D1CEA4}"/>
              </a:ext>
            </a:extLst>
          </p:cNvPr>
          <p:cNvSpPr>
            <a:spLocks noGrp="1"/>
          </p:cNvSpPr>
          <p:nvPr>
            <p:ph type="sldNum" sz="quarter" idx="12"/>
          </p:nvPr>
        </p:nvSpPr>
        <p:spPr/>
        <p:txBody>
          <a:bodyPr/>
          <a:lstStyle/>
          <a:p>
            <a:fld id="{5CA0101B-2B22-AF40-9AC3-C0A9D8EDFEB1}" type="slidenum">
              <a:rPr lang="fr-FR" smtClean="0"/>
              <a:t>15</a:t>
            </a:fld>
            <a:endParaRPr lang="fr-FR"/>
          </a:p>
        </p:txBody>
      </p:sp>
      <p:sp>
        <p:nvSpPr>
          <p:cNvPr id="3" name="Titre 1">
            <a:extLst>
              <a:ext uri="{FF2B5EF4-FFF2-40B4-BE49-F238E27FC236}">
                <a16:creationId xmlns:a16="http://schemas.microsoft.com/office/drawing/2014/main" id="{C68FEFB0-36B4-B363-A8B0-AC554DB584EE}"/>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a:t>Répartition des références par catégorie</a:t>
            </a:r>
          </a:p>
        </p:txBody>
      </p:sp>
    </p:spTree>
    <p:extLst>
      <p:ext uri="{BB962C8B-B14F-4D97-AF65-F5344CB8AC3E}">
        <p14:creationId xmlns:p14="http://schemas.microsoft.com/office/powerpoint/2010/main" val="27740016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FBF9E988-C071-64F4-55FD-4DBD84D77DEF}"/>
              </a:ext>
            </a:extLst>
          </p:cNvPr>
          <p:cNvSpPr txBox="1"/>
          <p:nvPr/>
        </p:nvSpPr>
        <p:spPr>
          <a:xfrm>
            <a:off x="462116" y="5677034"/>
            <a:ext cx="4225837" cy="923330"/>
          </a:xfrm>
          <a:prstGeom prst="rect">
            <a:avLst/>
          </a:prstGeom>
          <a:noFill/>
        </p:spPr>
        <p:txBody>
          <a:bodyPr wrap="none" rtlCol="0">
            <a:spAutoFit/>
          </a:bodyPr>
          <a:lstStyle/>
          <a:p>
            <a:r>
              <a:rPr lang="fr-FR" dirty="0"/>
              <a:t>On a </a:t>
            </a:r>
            <a:r>
              <a:rPr lang="fr-FR" dirty="0">
                <a:solidFill>
                  <a:srgbClr val="FF0000"/>
                </a:solidFill>
              </a:rPr>
              <a:t>4</a:t>
            </a:r>
            <a:r>
              <a:rPr lang="fr-FR" dirty="0"/>
              <a:t> clients Business sur tous nos clients</a:t>
            </a:r>
          </a:p>
          <a:p>
            <a:endParaRPr lang="fr-FR" dirty="0"/>
          </a:p>
          <a:p>
            <a:endParaRPr lang="fr-FR" dirty="0"/>
          </a:p>
        </p:txBody>
      </p:sp>
      <p:pic>
        <p:nvPicPr>
          <p:cNvPr id="4" name="Image 3">
            <a:extLst>
              <a:ext uri="{FF2B5EF4-FFF2-40B4-BE49-F238E27FC236}">
                <a16:creationId xmlns:a16="http://schemas.microsoft.com/office/drawing/2014/main" id="{9904EA68-0BFB-1287-3C41-6D99F7725C23}"/>
              </a:ext>
            </a:extLst>
          </p:cNvPr>
          <p:cNvPicPr>
            <a:picLocks noChangeAspect="1"/>
          </p:cNvPicPr>
          <p:nvPr/>
        </p:nvPicPr>
        <p:blipFill>
          <a:blip r:embed="rId2"/>
          <a:stretch>
            <a:fillRect/>
          </a:stretch>
        </p:blipFill>
        <p:spPr>
          <a:xfrm>
            <a:off x="6551957" y="2149021"/>
            <a:ext cx="5177927" cy="3653349"/>
          </a:xfrm>
          <a:prstGeom prst="rect">
            <a:avLst/>
          </a:prstGeom>
        </p:spPr>
      </p:pic>
      <p:sp>
        <p:nvSpPr>
          <p:cNvPr id="2" name="Espace réservé du numéro de diapositive 1">
            <a:extLst>
              <a:ext uri="{FF2B5EF4-FFF2-40B4-BE49-F238E27FC236}">
                <a16:creationId xmlns:a16="http://schemas.microsoft.com/office/drawing/2014/main" id="{0814D906-5BA8-C587-3CE7-AC56C29230B9}"/>
              </a:ext>
            </a:extLst>
          </p:cNvPr>
          <p:cNvSpPr>
            <a:spLocks noGrp="1"/>
          </p:cNvSpPr>
          <p:nvPr>
            <p:ph type="sldNum" sz="quarter" idx="12"/>
          </p:nvPr>
        </p:nvSpPr>
        <p:spPr/>
        <p:txBody>
          <a:bodyPr/>
          <a:lstStyle/>
          <a:p>
            <a:fld id="{5CA0101B-2B22-AF40-9AC3-C0A9D8EDFEB1}" type="slidenum">
              <a:rPr lang="fr-FR" smtClean="0"/>
              <a:t>16</a:t>
            </a:fld>
            <a:endParaRPr lang="fr-FR"/>
          </a:p>
        </p:txBody>
      </p:sp>
      <p:pic>
        <p:nvPicPr>
          <p:cNvPr id="5" name="Image 4">
            <a:extLst>
              <a:ext uri="{FF2B5EF4-FFF2-40B4-BE49-F238E27FC236}">
                <a16:creationId xmlns:a16="http://schemas.microsoft.com/office/drawing/2014/main" id="{6004D9EF-C0CD-58FE-7E91-1B0DFFFB5683}"/>
              </a:ext>
            </a:extLst>
          </p:cNvPr>
          <p:cNvPicPr>
            <a:picLocks noChangeAspect="1"/>
          </p:cNvPicPr>
          <p:nvPr/>
        </p:nvPicPr>
        <p:blipFill>
          <a:blip r:embed="rId3"/>
          <a:stretch>
            <a:fillRect/>
          </a:stretch>
        </p:blipFill>
        <p:spPr>
          <a:xfrm>
            <a:off x="581192" y="2149021"/>
            <a:ext cx="5970765" cy="3150566"/>
          </a:xfrm>
          <a:prstGeom prst="rect">
            <a:avLst/>
          </a:prstGeom>
        </p:spPr>
      </p:pic>
      <p:sp>
        <p:nvSpPr>
          <p:cNvPr id="6" name="Titre 1">
            <a:extLst>
              <a:ext uri="{FF2B5EF4-FFF2-40B4-BE49-F238E27FC236}">
                <a16:creationId xmlns:a16="http://schemas.microsoft.com/office/drawing/2014/main" id="{DA99A8A4-7AB6-D710-00CB-EE6FB144055A}"/>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a:t>IDENTIFICATION Clients </a:t>
            </a:r>
            <a:r>
              <a:rPr lang="fr-FR" b="1" dirty="0" err="1"/>
              <a:t>btob</a:t>
            </a:r>
            <a:r>
              <a:rPr lang="fr-FR" b="1" dirty="0"/>
              <a:t> vs </a:t>
            </a:r>
            <a:r>
              <a:rPr lang="fr-FR" b="1" dirty="0" err="1"/>
              <a:t>btoc</a:t>
            </a:r>
            <a:endParaRPr lang="fr-FR" b="1" dirty="0"/>
          </a:p>
        </p:txBody>
      </p:sp>
    </p:spTree>
    <p:extLst>
      <p:ext uri="{BB962C8B-B14F-4D97-AF65-F5344CB8AC3E}">
        <p14:creationId xmlns:p14="http://schemas.microsoft.com/office/powerpoint/2010/main" val="2787320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1636F194-47C6-999B-1EB2-63AE6B393DF4}"/>
              </a:ext>
            </a:extLst>
          </p:cNvPr>
          <p:cNvSpPr txBox="1"/>
          <p:nvPr/>
        </p:nvSpPr>
        <p:spPr>
          <a:xfrm>
            <a:off x="442452" y="2451083"/>
            <a:ext cx="5722374" cy="3139321"/>
          </a:xfrm>
          <a:prstGeom prst="rect">
            <a:avLst/>
          </a:prstGeom>
          <a:noFill/>
        </p:spPr>
        <p:txBody>
          <a:bodyPr wrap="square" rtlCol="0">
            <a:spAutoFit/>
          </a:bodyPr>
          <a:lstStyle/>
          <a:p>
            <a:r>
              <a:rPr lang="fr-FR" dirty="0"/>
              <a:t>Ici le Gini coefficient est de 0,44 </a:t>
            </a:r>
          </a:p>
          <a:p>
            <a:endParaRPr lang="fr-FR" dirty="0"/>
          </a:p>
          <a:p>
            <a:r>
              <a:rPr lang="fr-FR" dirty="0"/>
              <a:t>On voit que 50% des clients ont 20 % sur le chiffre d’affaires</a:t>
            </a:r>
          </a:p>
          <a:p>
            <a:endParaRPr lang="fr-FR" dirty="0"/>
          </a:p>
          <a:p>
            <a:r>
              <a:rPr lang="fr-FR" dirty="0"/>
              <a:t>Et 80% des clients ont 50% sur le chiffre d’affaires</a:t>
            </a:r>
          </a:p>
          <a:p>
            <a:endParaRPr lang="fr-FR" dirty="0"/>
          </a:p>
          <a:p>
            <a:r>
              <a:rPr lang="fr-FR" dirty="0"/>
              <a:t>Plus la surface bleue augmente plus le coefficient est proche de 1</a:t>
            </a:r>
          </a:p>
          <a:p>
            <a:endParaRPr lang="fr-FR" dirty="0"/>
          </a:p>
          <a:p>
            <a:r>
              <a:rPr lang="fr-FR" dirty="0"/>
              <a:t>L'égalité n’est donc pas parfaite</a:t>
            </a:r>
          </a:p>
        </p:txBody>
      </p:sp>
      <p:pic>
        <p:nvPicPr>
          <p:cNvPr id="10" name="Image 9">
            <a:extLst>
              <a:ext uri="{FF2B5EF4-FFF2-40B4-BE49-F238E27FC236}">
                <a16:creationId xmlns:a16="http://schemas.microsoft.com/office/drawing/2014/main" id="{C3CF8F84-B4B7-704F-960B-988656E34A76}"/>
              </a:ext>
            </a:extLst>
          </p:cNvPr>
          <p:cNvPicPr>
            <a:picLocks noChangeAspect="1"/>
          </p:cNvPicPr>
          <p:nvPr/>
        </p:nvPicPr>
        <p:blipFill>
          <a:blip r:embed="rId2"/>
          <a:stretch>
            <a:fillRect/>
          </a:stretch>
        </p:blipFill>
        <p:spPr>
          <a:xfrm>
            <a:off x="6633197" y="1821670"/>
            <a:ext cx="4977611" cy="4195673"/>
          </a:xfrm>
          <a:prstGeom prst="rect">
            <a:avLst/>
          </a:prstGeom>
        </p:spPr>
      </p:pic>
      <p:sp>
        <p:nvSpPr>
          <p:cNvPr id="3" name="Espace réservé du numéro de diapositive 2">
            <a:extLst>
              <a:ext uri="{FF2B5EF4-FFF2-40B4-BE49-F238E27FC236}">
                <a16:creationId xmlns:a16="http://schemas.microsoft.com/office/drawing/2014/main" id="{2B46E81E-1887-1DCE-54C7-1B167510C743}"/>
              </a:ext>
            </a:extLst>
          </p:cNvPr>
          <p:cNvSpPr>
            <a:spLocks noGrp="1"/>
          </p:cNvSpPr>
          <p:nvPr>
            <p:ph type="sldNum" sz="quarter" idx="12"/>
          </p:nvPr>
        </p:nvSpPr>
        <p:spPr/>
        <p:txBody>
          <a:bodyPr/>
          <a:lstStyle/>
          <a:p>
            <a:fld id="{5CA0101B-2B22-AF40-9AC3-C0A9D8EDFEB1}" type="slidenum">
              <a:rPr lang="fr-FR" smtClean="0"/>
              <a:t>17</a:t>
            </a:fld>
            <a:endParaRPr lang="fr-FR"/>
          </a:p>
        </p:txBody>
      </p:sp>
      <p:sp>
        <p:nvSpPr>
          <p:cNvPr id="4" name="Titre 1">
            <a:extLst>
              <a:ext uri="{FF2B5EF4-FFF2-40B4-BE49-F238E27FC236}">
                <a16:creationId xmlns:a16="http://schemas.microsoft.com/office/drawing/2014/main" id="{4917BD21-4BCA-78DC-348F-433864313DA2}"/>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a:t>Courbe de Lorenz du chiffre d'affaires par client</a:t>
            </a:r>
          </a:p>
        </p:txBody>
      </p:sp>
    </p:spTree>
    <p:extLst>
      <p:ext uri="{BB962C8B-B14F-4D97-AF65-F5344CB8AC3E}">
        <p14:creationId xmlns:p14="http://schemas.microsoft.com/office/powerpoint/2010/main" val="2883997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ZoneTexte 11">
            <a:extLst>
              <a:ext uri="{FF2B5EF4-FFF2-40B4-BE49-F238E27FC236}">
                <a16:creationId xmlns:a16="http://schemas.microsoft.com/office/drawing/2014/main" id="{B05007D1-B05A-A9CD-A86F-87BC07B97BB7}"/>
              </a:ext>
            </a:extLst>
          </p:cNvPr>
          <p:cNvSpPr txBox="1"/>
          <p:nvPr/>
        </p:nvSpPr>
        <p:spPr>
          <a:xfrm>
            <a:off x="5601162" y="1965567"/>
            <a:ext cx="6322142" cy="1200329"/>
          </a:xfrm>
          <a:prstGeom prst="rect">
            <a:avLst/>
          </a:prstGeom>
          <a:noFill/>
        </p:spPr>
        <p:txBody>
          <a:bodyPr wrap="square">
            <a:spAutoFit/>
          </a:bodyPr>
          <a:lstStyle/>
          <a:p>
            <a:pPr algn="l"/>
            <a:r>
              <a:rPr lang="fr-FR" b="1" i="0" u="none" strike="noStrike" dirty="0">
                <a:solidFill>
                  <a:srgbClr val="000000"/>
                </a:solidFill>
                <a:effectLst/>
              </a:rPr>
              <a:t>Variables :</a:t>
            </a:r>
          </a:p>
          <a:p>
            <a:pPr algn="l">
              <a:buFont typeface="Arial" panose="020B0604020202020204" pitchFamily="34" charset="0"/>
              <a:buChar char="•"/>
            </a:pPr>
            <a:r>
              <a:rPr lang="fr-FR" i="0" u="none" strike="noStrike" dirty="0">
                <a:solidFill>
                  <a:srgbClr val="000000"/>
                </a:solidFill>
                <a:effectLst/>
              </a:rPr>
              <a:t> Genre : variable qualitative</a:t>
            </a:r>
          </a:p>
          <a:p>
            <a:pPr algn="l">
              <a:buFont typeface="Arial" panose="020B0604020202020204" pitchFamily="34" charset="0"/>
              <a:buChar char="•"/>
            </a:pPr>
            <a:r>
              <a:rPr lang="fr-FR" i="0" u="none" strike="noStrike" dirty="0">
                <a:solidFill>
                  <a:srgbClr val="000000"/>
                </a:solidFill>
                <a:effectLst/>
              </a:rPr>
              <a:t> Catégorie de livre : variable qualitative avec 3</a:t>
            </a:r>
          </a:p>
          <a:p>
            <a:pPr algn="l"/>
            <a:r>
              <a:rPr lang="fr-FR" dirty="0">
                <a:solidFill>
                  <a:srgbClr val="000000"/>
                </a:solidFill>
              </a:rPr>
              <a:t> </a:t>
            </a:r>
            <a:r>
              <a:rPr lang="fr-FR" i="0" u="none" strike="noStrike" dirty="0">
                <a:solidFill>
                  <a:srgbClr val="000000"/>
                </a:solidFill>
                <a:effectLst/>
              </a:rPr>
              <a:t> modalités (Catégorie 0, 1, 2)</a:t>
            </a:r>
          </a:p>
        </p:txBody>
      </p:sp>
      <p:sp>
        <p:nvSpPr>
          <p:cNvPr id="11" name="ZoneTexte 10">
            <a:extLst>
              <a:ext uri="{FF2B5EF4-FFF2-40B4-BE49-F238E27FC236}">
                <a16:creationId xmlns:a16="http://schemas.microsoft.com/office/drawing/2014/main" id="{392D5869-19FB-1243-012E-474C8C28BDC4}"/>
              </a:ext>
            </a:extLst>
          </p:cNvPr>
          <p:cNvSpPr txBox="1"/>
          <p:nvPr/>
        </p:nvSpPr>
        <p:spPr>
          <a:xfrm>
            <a:off x="5601162" y="3165896"/>
            <a:ext cx="6148386" cy="923330"/>
          </a:xfrm>
          <a:prstGeom prst="rect">
            <a:avLst/>
          </a:prstGeom>
          <a:noFill/>
        </p:spPr>
        <p:txBody>
          <a:bodyPr wrap="square">
            <a:spAutoFit/>
          </a:bodyPr>
          <a:lstStyle/>
          <a:p>
            <a:pPr algn="l"/>
            <a:r>
              <a:rPr lang="fr-FR" b="0" i="0" u="none" strike="noStrike" dirty="0">
                <a:solidFill>
                  <a:srgbClr val="000000"/>
                </a:solidFill>
                <a:effectLst/>
                <a:latin typeface="Gill Sans MT (Corps)"/>
              </a:rPr>
              <a:t>Choix du test </a:t>
            </a:r>
            <a:r>
              <a:rPr lang="fr-FR" b="1" i="0" u="none" strike="noStrike" dirty="0">
                <a:solidFill>
                  <a:srgbClr val="000000"/>
                </a:solidFill>
                <a:effectLst/>
                <a:latin typeface="Gill Sans MT (Corps)"/>
              </a:rPr>
              <a:t>: Khi² d’indépendance</a:t>
            </a:r>
          </a:p>
          <a:p>
            <a:pPr algn="l"/>
            <a:r>
              <a:rPr lang="fr-FR" b="1" i="0" u="none" strike="noStrike" dirty="0">
                <a:solidFill>
                  <a:srgbClr val="000000"/>
                </a:solidFill>
                <a:effectLst/>
                <a:latin typeface="Gill Sans MT (Corps)"/>
              </a:rPr>
              <a:t>Justification :</a:t>
            </a:r>
            <a:r>
              <a:rPr lang="fr-FR" b="0" i="0" u="none" strike="noStrike" dirty="0">
                <a:solidFill>
                  <a:srgbClr val="000000"/>
                </a:solidFill>
                <a:effectLst/>
                <a:latin typeface="Gill Sans MT (Corps)"/>
              </a:rPr>
              <a:t> </a:t>
            </a:r>
            <a:r>
              <a:rPr lang="fr-FR" i="0" u="none" strike="noStrike" dirty="0">
                <a:solidFill>
                  <a:srgbClr val="000000"/>
                </a:solidFill>
                <a:effectLst/>
                <a:latin typeface="Gill Sans MT (Corps)"/>
              </a:rPr>
              <a:t>le test du chi² est le plus adapté pour deux variables qualitatives</a:t>
            </a:r>
            <a:endParaRPr lang="fr-FR" dirty="0">
              <a:solidFill>
                <a:srgbClr val="000000"/>
              </a:solidFill>
              <a:latin typeface="Gill Sans MT (Corps)"/>
            </a:endParaRPr>
          </a:p>
        </p:txBody>
      </p:sp>
      <p:sp>
        <p:nvSpPr>
          <p:cNvPr id="5" name="ZoneTexte 4">
            <a:extLst>
              <a:ext uri="{FF2B5EF4-FFF2-40B4-BE49-F238E27FC236}">
                <a16:creationId xmlns:a16="http://schemas.microsoft.com/office/drawing/2014/main" id="{2805785D-57A8-D3C5-B21F-CEF0B6649B61}"/>
              </a:ext>
            </a:extLst>
          </p:cNvPr>
          <p:cNvSpPr txBox="1"/>
          <p:nvPr/>
        </p:nvSpPr>
        <p:spPr>
          <a:xfrm>
            <a:off x="5601162" y="4089226"/>
            <a:ext cx="6148386" cy="1477328"/>
          </a:xfrm>
          <a:prstGeom prst="rect">
            <a:avLst/>
          </a:prstGeom>
          <a:noFill/>
        </p:spPr>
        <p:txBody>
          <a:bodyPr wrap="square">
            <a:spAutoFit/>
          </a:bodyPr>
          <a:lstStyle/>
          <a:p>
            <a:r>
              <a:rPr lang="fr-FR" b="1" dirty="0">
                <a:solidFill>
                  <a:srgbClr val="000000"/>
                </a:solidFill>
              </a:rPr>
              <a:t>Genre vs Catégorie de livres :</a:t>
            </a:r>
          </a:p>
          <a:p>
            <a:r>
              <a:rPr lang="el-GR" dirty="0"/>
              <a:t>χ² = </a:t>
            </a:r>
            <a:r>
              <a:rPr lang="fr-FR" dirty="0"/>
              <a:t>22.67</a:t>
            </a:r>
            <a:r>
              <a:rPr lang="el-GR" dirty="0"/>
              <a:t>, </a:t>
            </a:r>
            <a:r>
              <a:rPr lang="fr-FR" dirty="0" err="1"/>
              <a:t>dof</a:t>
            </a:r>
            <a:r>
              <a:rPr lang="fr-FR" dirty="0"/>
              <a:t> = 2, p-value = 0.0000</a:t>
            </a:r>
          </a:p>
          <a:p>
            <a:r>
              <a:rPr lang="fr-FR" dirty="0"/>
              <a:t>La p-value &lt; 0.05 → </a:t>
            </a:r>
            <a:r>
              <a:rPr lang="fr-FR" b="1" dirty="0"/>
              <a:t>on rejette l’hypothèse d’indépendance</a:t>
            </a:r>
          </a:p>
          <a:p>
            <a:pPr algn="ctr"/>
            <a:endParaRPr lang="fr-FR" b="1" i="0" u="none" strike="noStrike" dirty="0">
              <a:solidFill>
                <a:srgbClr val="000000"/>
              </a:solidFill>
              <a:effectLst/>
            </a:endParaRPr>
          </a:p>
        </p:txBody>
      </p:sp>
      <p:sp>
        <p:nvSpPr>
          <p:cNvPr id="13" name="ZoneTexte 12">
            <a:extLst>
              <a:ext uri="{FF2B5EF4-FFF2-40B4-BE49-F238E27FC236}">
                <a16:creationId xmlns:a16="http://schemas.microsoft.com/office/drawing/2014/main" id="{9287F562-6085-D429-B124-0760EFE98BF8}"/>
              </a:ext>
            </a:extLst>
          </p:cNvPr>
          <p:cNvSpPr txBox="1"/>
          <p:nvPr/>
        </p:nvSpPr>
        <p:spPr>
          <a:xfrm>
            <a:off x="442452" y="5492358"/>
            <a:ext cx="11041626" cy="923330"/>
          </a:xfrm>
          <a:prstGeom prst="rect">
            <a:avLst/>
          </a:prstGeom>
          <a:noFill/>
        </p:spPr>
        <p:txBody>
          <a:bodyPr wrap="square">
            <a:spAutoFit/>
          </a:bodyPr>
          <a:lstStyle/>
          <a:p>
            <a:pPr algn="l"/>
            <a:r>
              <a:rPr lang="fr-FR" sz="1800" b="1" i="0" u="none" strike="noStrike" dirty="0">
                <a:solidFill>
                  <a:srgbClr val="000000"/>
                </a:solidFill>
                <a:effectLst/>
                <a:latin typeface="Gill Sans MT (Corps)"/>
              </a:rPr>
              <a:t>Interprétation : </a:t>
            </a:r>
            <a:r>
              <a:rPr lang="fr-FR" sz="1800" b="0" i="0" u="none" strike="noStrike" dirty="0">
                <a:solidFill>
                  <a:srgbClr val="000000"/>
                </a:solidFill>
                <a:effectLst/>
                <a:latin typeface="Gill Sans MT (Corps)"/>
              </a:rPr>
              <a:t>Le test du khi² d’indépendance montre une association significative entre le genre et la catégorie de livres achetées (</a:t>
            </a:r>
            <a:r>
              <a:rPr lang="el-GR" sz="1800" b="0" i="0" u="none" strike="noStrike" dirty="0">
                <a:solidFill>
                  <a:srgbClr val="000000"/>
                </a:solidFill>
                <a:effectLst/>
                <a:latin typeface="Gill Sans MT (Corps)"/>
              </a:rPr>
              <a:t>χ² = 46.5, </a:t>
            </a:r>
            <a:r>
              <a:rPr lang="fr-FR" sz="1800" b="0" i="0" u="none" strike="noStrike" dirty="0">
                <a:solidFill>
                  <a:srgbClr val="000000"/>
                </a:solidFill>
                <a:effectLst/>
                <a:latin typeface="Gill Sans MT (Corps)"/>
              </a:rPr>
              <a:t>p &lt; 0.0001). Les femmes achètent légèrement plus de livres dans les catégories 1.0 et 2.0, tandis que la catégorie 0.0 est achetée en proportion égale par les deux genres</a:t>
            </a:r>
            <a:endParaRPr lang="fr-FR" sz="1800" b="1" i="0" u="none" strike="noStrike" dirty="0">
              <a:solidFill>
                <a:srgbClr val="000000"/>
              </a:solidFill>
              <a:effectLst/>
              <a:latin typeface="Gill Sans MT (Corps)"/>
            </a:endParaRPr>
          </a:p>
        </p:txBody>
      </p:sp>
      <p:sp>
        <p:nvSpPr>
          <p:cNvPr id="3" name="Espace réservé du numéro de diapositive 2">
            <a:extLst>
              <a:ext uri="{FF2B5EF4-FFF2-40B4-BE49-F238E27FC236}">
                <a16:creationId xmlns:a16="http://schemas.microsoft.com/office/drawing/2014/main" id="{04E69DCB-D67A-6A93-D226-B3F89F3933D5}"/>
              </a:ext>
            </a:extLst>
          </p:cNvPr>
          <p:cNvSpPr>
            <a:spLocks noGrp="1"/>
          </p:cNvSpPr>
          <p:nvPr>
            <p:ph type="sldNum" sz="quarter" idx="12"/>
          </p:nvPr>
        </p:nvSpPr>
        <p:spPr/>
        <p:txBody>
          <a:bodyPr/>
          <a:lstStyle/>
          <a:p>
            <a:fld id="{5CA0101B-2B22-AF40-9AC3-C0A9D8EDFEB1}" type="slidenum">
              <a:rPr lang="fr-FR" smtClean="0"/>
              <a:t>18</a:t>
            </a:fld>
            <a:endParaRPr lang="fr-FR"/>
          </a:p>
        </p:txBody>
      </p:sp>
      <p:sp>
        <p:nvSpPr>
          <p:cNvPr id="7" name="Titre 1">
            <a:extLst>
              <a:ext uri="{FF2B5EF4-FFF2-40B4-BE49-F238E27FC236}">
                <a16:creationId xmlns:a16="http://schemas.microsoft.com/office/drawing/2014/main" id="{59B368A7-39EA-9952-C062-53F5B33DF78A}"/>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dirty="0"/>
              <a:t> Le </a:t>
            </a:r>
            <a:r>
              <a:rPr lang="fr-FR" b="1" dirty="0"/>
              <a:t>genre</a:t>
            </a:r>
            <a:r>
              <a:rPr lang="fr-FR" dirty="0"/>
              <a:t> influence-t-il la </a:t>
            </a:r>
            <a:r>
              <a:rPr lang="fr-FR" b="1" dirty="0"/>
              <a:t>catégorie de livres</a:t>
            </a:r>
            <a:r>
              <a:rPr lang="fr-FR" dirty="0"/>
              <a:t> achetée ?</a:t>
            </a:r>
            <a:endParaRPr lang="fr-FR" dirty="0">
              <a:effectLst/>
            </a:endParaRPr>
          </a:p>
        </p:txBody>
      </p:sp>
      <p:pic>
        <p:nvPicPr>
          <p:cNvPr id="15" name="Image 14">
            <a:extLst>
              <a:ext uri="{FF2B5EF4-FFF2-40B4-BE49-F238E27FC236}">
                <a16:creationId xmlns:a16="http://schemas.microsoft.com/office/drawing/2014/main" id="{0F192E09-D620-B5A1-11DF-44029947C08A}"/>
              </a:ext>
            </a:extLst>
          </p:cNvPr>
          <p:cNvPicPr>
            <a:picLocks noChangeAspect="1"/>
          </p:cNvPicPr>
          <p:nvPr/>
        </p:nvPicPr>
        <p:blipFill>
          <a:blip r:embed="rId2"/>
          <a:stretch>
            <a:fillRect/>
          </a:stretch>
        </p:blipFill>
        <p:spPr>
          <a:xfrm>
            <a:off x="442451" y="1968739"/>
            <a:ext cx="4984955" cy="3432343"/>
          </a:xfrm>
          <a:prstGeom prst="rect">
            <a:avLst/>
          </a:prstGeom>
        </p:spPr>
      </p:pic>
    </p:spTree>
    <p:extLst>
      <p:ext uri="{BB962C8B-B14F-4D97-AF65-F5344CB8AC3E}">
        <p14:creationId xmlns:p14="http://schemas.microsoft.com/office/powerpoint/2010/main" val="1527319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165B30B2-6CD4-6AC5-953C-5EA16661FAB1}"/>
              </a:ext>
            </a:extLst>
          </p:cNvPr>
          <p:cNvSpPr txBox="1"/>
          <p:nvPr/>
        </p:nvSpPr>
        <p:spPr>
          <a:xfrm>
            <a:off x="442451" y="1987201"/>
            <a:ext cx="2916183" cy="923330"/>
          </a:xfrm>
          <a:prstGeom prst="rect">
            <a:avLst/>
          </a:prstGeom>
          <a:noFill/>
        </p:spPr>
        <p:txBody>
          <a:bodyPr wrap="none" rtlCol="0">
            <a:spAutoFit/>
          </a:bodyPr>
          <a:lstStyle/>
          <a:p>
            <a:pPr algn="l"/>
            <a:r>
              <a:rPr lang="fr-FR" b="1" i="0" u="none" strike="noStrike" dirty="0">
                <a:solidFill>
                  <a:srgbClr val="000000"/>
                </a:solidFill>
                <a:effectLst/>
              </a:rPr>
              <a:t>Variables :</a:t>
            </a:r>
          </a:p>
          <a:p>
            <a:pPr algn="l">
              <a:buFont typeface="Arial" panose="020B0604020202020204" pitchFamily="34" charset="0"/>
              <a:buChar char="•"/>
            </a:pPr>
            <a:r>
              <a:rPr lang="fr-FR" i="0" u="none" strike="noStrike" dirty="0">
                <a:solidFill>
                  <a:srgbClr val="000000"/>
                </a:solidFill>
                <a:effectLst/>
              </a:rPr>
              <a:t> Âge : variable quantitative </a:t>
            </a:r>
          </a:p>
          <a:p>
            <a:pPr algn="l">
              <a:buFont typeface="Arial" panose="020B0604020202020204" pitchFamily="34" charset="0"/>
              <a:buChar char="•"/>
            </a:pPr>
            <a:r>
              <a:rPr lang="fr-FR" i="0" u="none" strike="noStrike" dirty="0">
                <a:solidFill>
                  <a:srgbClr val="000000"/>
                </a:solidFill>
                <a:effectLst/>
              </a:rPr>
              <a:t> CA : variable quantitative</a:t>
            </a:r>
            <a:endParaRPr lang="fr-FR" dirty="0"/>
          </a:p>
        </p:txBody>
      </p:sp>
      <p:sp>
        <p:nvSpPr>
          <p:cNvPr id="8" name="ZoneTexte 7">
            <a:extLst>
              <a:ext uri="{FF2B5EF4-FFF2-40B4-BE49-F238E27FC236}">
                <a16:creationId xmlns:a16="http://schemas.microsoft.com/office/drawing/2014/main" id="{6161C6D4-2FF5-1A71-87A6-EE48067D0A0E}"/>
              </a:ext>
            </a:extLst>
          </p:cNvPr>
          <p:cNvSpPr txBox="1"/>
          <p:nvPr/>
        </p:nvSpPr>
        <p:spPr>
          <a:xfrm>
            <a:off x="442451" y="3005647"/>
            <a:ext cx="4508285" cy="369332"/>
          </a:xfrm>
          <a:prstGeom prst="rect">
            <a:avLst/>
          </a:prstGeom>
          <a:noFill/>
        </p:spPr>
        <p:txBody>
          <a:bodyPr wrap="none" rtlCol="0">
            <a:spAutoFit/>
          </a:bodyPr>
          <a:lstStyle/>
          <a:p>
            <a:r>
              <a:rPr lang="fr-FR" b="0" i="0" u="none" strike="noStrike" dirty="0">
                <a:solidFill>
                  <a:srgbClr val="000000"/>
                </a:solidFill>
                <a:effectLst/>
                <a:latin typeface="Gill Sans MT (Corps)"/>
              </a:rPr>
              <a:t>Choix du test : </a:t>
            </a:r>
            <a:r>
              <a:rPr lang="fr-FR" b="1" i="0" u="sng" strike="noStrike" dirty="0">
                <a:solidFill>
                  <a:srgbClr val="000000"/>
                </a:solidFill>
                <a:effectLst/>
                <a:latin typeface="Gill Sans MT (Corps)"/>
              </a:rPr>
              <a:t>Corrélation de Spearman</a:t>
            </a:r>
            <a:r>
              <a:rPr lang="fr-FR" b="1" i="0" strike="noStrike" dirty="0">
                <a:solidFill>
                  <a:srgbClr val="000000"/>
                </a:solidFill>
                <a:effectLst/>
                <a:latin typeface="Gill Sans MT (Corps)"/>
              </a:rPr>
              <a:t> :</a:t>
            </a:r>
            <a:endParaRPr lang="fr-FR" dirty="0">
              <a:latin typeface="Gill Sans MT (Corps)"/>
            </a:endParaRPr>
          </a:p>
        </p:txBody>
      </p:sp>
      <p:sp>
        <p:nvSpPr>
          <p:cNvPr id="9" name="ZoneTexte 8">
            <a:extLst>
              <a:ext uri="{FF2B5EF4-FFF2-40B4-BE49-F238E27FC236}">
                <a16:creationId xmlns:a16="http://schemas.microsoft.com/office/drawing/2014/main" id="{84856175-9ADE-B326-CA03-DFAEE420A070}"/>
              </a:ext>
            </a:extLst>
          </p:cNvPr>
          <p:cNvSpPr txBox="1"/>
          <p:nvPr/>
        </p:nvSpPr>
        <p:spPr>
          <a:xfrm>
            <a:off x="442451" y="3307546"/>
            <a:ext cx="5823132" cy="1200329"/>
          </a:xfrm>
          <a:prstGeom prst="rect">
            <a:avLst/>
          </a:prstGeom>
          <a:noFill/>
        </p:spPr>
        <p:txBody>
          <a:bodyPr wrap="square" rtlCol="0">
            <a:spAutoFit/>
          </a:bodyPr>
          <a:lstStyle/>
          <a:p>
            <a:r>
              <a:rPr lang="fr-FR" i="0" u="none" strike="noStrike" dirty="0">
                <a:solidFill>
                  <a:srgbClr val="000000"/>
                </a:solidFill>
                <a:effectLst/>
                <a:latin typeface="Gill Sans MT (Corps)"/>
              </a:rPr>
              <a:t>- la relation est monotone mais pas nécessairement linéaire</a:t>
            </a:r>
            <a:endParaRPr lang="fr-FR" dirty="0">
              <a:solidFill>
                <a:srgbClr val="000000"/>
              </a:solidFill>
              <a:latin typeface="Gill Sans MT (Corps)"/>
            </a:endParaRPr>
          </a:p>
          <a:p>
            <a:r>
              <a:rPr lang="fr-FR" dirty="0">
                <a:latin typeface="Gill Sans MT (Corps)"/>
              </a:rPr>
              <a:t>- ne nécessite pas de normalité,</a:t>
            </a:r>
          </a:p>
          <a:p>
            <a:r>
              <a:rPr lang="fr-FR" dirty="0">
                <a:latin typeface="Gill Sans MT (Corps)"/>
              </a:rPr>
              <a:t>- est robuste aux </a:t>
            </a:r>
            <a:r>
              <a:rPr lang="fr-FR" dirty="0" err="1">
                <a:latin typeface="Gill Sans MT (Corps)"/>
              </a:rPr>
              <a:t>outliers</a:t>
            </a:r>
            <a:endParaRPr lang="fr-FR" dirty="0">
              <a:latin typeface="Gill Sans MT (Corps)"/>
            </a:endParaRPr>
          </a:p>
          <a:p>
            <a:endParaRPr lang="fr-FR" dirty="0">
              <a:latin typeface="Gill Sans MT (Corps)"/>
            </a:endParaRPr>
          </a:p>
        </p:txBody>
      </p:sp>
      <p:sp>
        <p:nvSpPr>
          <p:cNvPr id="10" name="ZoneTexte 9">
            <a:extLst>
              <a:ext uri="{FF2B5EF4-FFF2-40B4-BE49-F238E27FC236}">
                <a16:creationId xmlns:a16="http://schemas.microsoft.com/office/drawing/2014/main" id="{DCD90970-B67C-B149-9995-95211BB819BF}"/>
              </a:ext>
            </a:extLst>
          </p:cNvPr>
          <p:cNvSpPr txBox="1"/>
          <p:nvPr/>
        </p:nvSpPr>
        <p:spPr>
          <a:xfrm>
            <a:off x="442451" y="4323598"/>
            <a:ext cx="5057475" cy="923330"/>
          </a:xfrm>
          <a:prstGeom prst="rect">
            <a:avLst/>
          </a:prstGeom>
          <a:noFill/>
        </p:spPr>
        <p:txBody>
          <a:bodyPr wrap="none" rtlCol="0">
            <a:spAutoFit/>
          </a:bodyPr>
          <a:lstStyle/>
          <a:p>
            <a:pPr algn="l"/>
            <a:r>
              <a:rPr lang="fr-FR" i="0" u="none" strike="noStrike" dirty="0">
                <a:solidFill>
                  <a:srgbClr val="000000"/>
                </a:solidFill>
                <a:effectLst/>
              </a:rPr>
              <a:t>Le test de Pearson nécessite des hypothèses fortes :</a:t>
            </a:r>
          </a:p>
          <a:p>
            <a:pPr algn="l">
              <a:buFont typeface="Arial" panose="020B0604020202020204" pitchFamily="34" charset="0"/>
              <a:buChar char="•"/>
            </a:pPr>
            <a:r>
              <a:rPr lang="fr-FR" i="0" u="none" strike="noStrike" dirty="0">
                <a:solidFill>
                  <a:srgbClr val="000000"/>
                </a:solidFill>
                <a:effectLst/>
              </a:rPr>
              <a:t> Données distribuées normalement</a:t>
            </a:r>
          </a:p>
          <a:p>
            <a:pPr algn="l">
              <a:buFont typeface="Arial" panose="020B0604020202020204" pitchFamily="34" charset="0"/>
              <a:buChar char="•"/>
            </a:pPr>
            <a:r>
              <a:rPr lang="fr-FR" i="0" u="none" strike="noStrike" dirty="0">
                <a:solidFill>
                  <a:srgbClr val="000000"/>
                </a:solidFill>
                <a:effectLst/>
              </a:rPr>
              <a:t> Relation linéaire (ce qui n’est pas notre cas)</a:t>
            </a:r>
          </a:p>
        </p:txBody>
      </p:sp>
      <p:sp>
        <p:nvSpPr>
          <p:cNvPr id="15" name="ZoneTexte 14">
            <a:extLst>
              <a:ext uri="{FF2B5EF4-FFF2-40B4-BE49-F238E27FC236}">
                <a16:creationId xmlns:a16="http://schemas.microsoft.com/office/drawing/2014/main" id="{E428DBBC-FE26-1E7B-FB17-0732690FF325}"/>
              </a:ext>
            </a:extLst>
          </p:cNvPr>
          <p:cNvSpPr txBox="1"/>
          <p:nvPr/>
        </p:nvSpPr>
        <p:spPr>
          <a:xfrm>
            <a:off x="3043238" y="5943600"/>
            <a:ext cx="184731" cy="369332"/>
          </a:xfrm>
          <a:prstGeom prst="rect">
            <a:avLst/>
          </a:prstGeom>
          <a:noFill/>
        </p:spPr>
        <p:txBody>
          <a:bodyPr wrap="none" rtlCol="0">
            <a:spAutoFit/>
          </a:bodyPr>
          <a:lstStyle/>
          <a:p>
            <a:endParaRPr lang="fr-FR" dirty="0"/>
          </a:p>
        </p:txBody>
      </p:sp>
      <p:sp>
        <p:nvSpPr>
          <p:cNvPr id="13" name="ZoneTexte 12">
            <a:extLst>
              <a:ext uri="{FF2B5EF4-FFF2-40B4-BE49-F238E27FC236}">
                <a16:creationId xmlns:a16="http://schemas.microsoft.com/office/drawing/2014/main" id="{49181800-4D8A-8A98-2BB7-215222CE9B97}"/>
              </a:ext>
            </a:extLst>
          </p:cNvPr>
          <p:cNvSpPr txBox="1"/>
          <p:nvPr/>
        </p:nvSpPr>
        <p:spPr>
          <a:xfrm>
            <a:off x="442451" y="5494472"/>
            <a:ext cx="10959157" cy="923330"/>
          </a:xfrm>
          <a:prstGeom prst="rect">
            <a:avLst/>
          </a:prstGeom>
          <a:noFill/>
        </p:spPr>
        <p:txBody>
          <a:bodyPr wrap="square">
            <a:spAutoFit/>
          </a:bodyPr>
          <a:lstStyle/>
          <a:p>
            <a:r>
              <a:rPr lang="fr-FR" b="1" i="0" u="none" strike="noStrike" dirty="0">
                <a:solidFill>
                  <a:srgbClr val="000000"/>
                </a:solidFill>
                <a:effectLst/>
                <a:latin typeface="Gill Sans MT (Corps)"/>
              </a:rPr>
              <a:t>Interprétation</a:t>
            </a:r>
            <a:r>
              <a:rPr lang="fr-FR" i="0" u="none" strike="noStrike" dirty="0">
                <a:solidFill>
                  <a:srgbClr val="000000"/>
                </a:solidFill>
                <a:effectLst/>
                <a:latin typeface="Gill Sans MT (Corps)"/>
              </a:rPr>
              <a:t> : Il existe une corrélation monotone négative faible mais significative entre l’âge et le chiffre d’affaires généré par un client. Cela suggère que, plus l’âge augmente, plus le chiffre d'affaires individuel tend à diminuer, mais l’effet reste modéré</a:t>
            </a:r>
            <a:endParaRPr lang="fr-FR" dirty="0">
              <a:latin typeface="Gill Sans MT (Corps)"/>
            </a:endParaRPr>
          </a:p>
        </p:txBody>
      </p:sp>
      <p:pic>
        <p:nvPicPr>
          <p:cNvPr id="18" name="Image 17">
            <a:extLst>
              <a:ext uri="{FF2B5EF4-FFF2-40B4-BE49-F238E27FC236}">
                <a16:creationId xmlns:a16="http://schemas.microsoft.com/office/drawing/2014/main" id="{4F56AC26-B9F7-1FC7-071B-7A0457B349F7}"/>
              </a:ext>
            </a:extLst>
          </p:cNvPr>
          <p:cNvPicPr>
            <a:picLocks noChangeAspect="1"/>
          </p:cNvPicPr>
          <p:nvPr/>
        </p:nvPicPr>
        <p:blipFill>
          <a:blip r:embed="rId2"/>
          <a:stretch>
            <a:fillRect/>
          </a:stretch>
        </p:blipFill>
        <p:spPr>
          <a:xfrm>
            <a:off x="6499417" y="1940121"/>
            <a:ext cx="4938679" cy="3368715"/>
          </a:xfrm>
          <a:prstGeom prst="rect">
            <a:avLst/>
          </a:prstGeom>
        </p:spPr>
      </p:pic>
      <p:sp>
        <p:nvSpPr>
          <p:cNvPr id="3" name="Espace réservé du numéro de diapositive 2">
            <a:extLst>
              <a:ext uri="{FF2B5EF4-FFF2-40B4-BE49-F238E27FC236}">
                <a16:creationId xmlns:a16="http://schemas.microsoft.com/office/drawing/2014/main" id="{BE282E95-DB6B-FAAF-1335-5E7831374E91}"/>
              </a:ext>
            </a:extLst>
          </p:cNvPr>
          <p:cNvSpPr>
            <a:spLocks noGrp="1"/>
          </p:cNvSpPr>
          <p:nvPr>
            <p:ph type="sldNum" sz="quarter" idx="12"/>
          </p:nvPr>
        </p:nvSpPr>
        <p:spPr/>
        <p:txBody>
          <a:bodyPr/>
          <a:lstStyle/>
          <a:p>
            <a:fld id="{5CA0101B-2B22-AF40-9AC3-C0A9D8EDFEB1}" type="slidenum">
              <a:rPr lang="fr-FR" smtClean="0"/>
              <a:t>19</a:t>
            </a:fld>
            <a:endParaRPr lang="fr-FR"/>
          </a:p>
        </p:txBody>
      </p:sp>
      <p:sp>
        <p:nvSpPr>
          <p:cNvPr id="4" name="Titre 1">
            <a:extLst>
              <a:ext uri="{FF2B5EF4-FFF2-40B4-BE49-F238E27FC236}">
                <a16:creationId xmlns:a16="http://schemas.microsoft.com/office/drawing/2014/main" id="{08FEBFF6-460D-D430-5300-DEF26C4FFA72}"/>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a:t>Existe-t-il un LIEN entre l'âge du client et </a:t>
            </a:r>
          </a:p>
          <a:p>
            <a:pPr algn="ctr"/>
            <a:r>
              <a:rPr lang="fr-FR" b="1" dirty="0"/>
              <a:t>le chiffre d'affaires ?</a:t>
            </a:r>
          </a:p>
        </p:txBody>
      </p:sp>
      <p:pic>
        <p:nvPicPr>
          <p:cNvPr id="16" name="Image 15">
            <a:extLst>
              <a:ext uri="{FF2B5EF4-FFF2-40B4-BE49-F238E27FC236}">
                <a16:creationId xmlns:a16="http://schemas.microsoft.com/office/drawing/2014/main" id="{E5F5410E-5159-5334-FD3E-2E0C5A61698F}"/>
              </a:ext>
            </a:extLst>
          </p:cNvPr>
          <p:cNvPicPr>
            <a:picLocks noChangeAspect="1"/>
          </p:cNvPicPr>
          <p:nvPr/>
        </p:nvPicPr>
        <p:blipFill>
          <a:blip r:embed="rId3"/>
          <a:stretch>
            <a:fillRect/>
          </a:stretch>
        </p:blipFill>
        <p:spPr>
          <a:xfrm>
            <a:off x="7854616" y="5273393"/>
            <a:ext cx="2972058" cy="205758"/>
          </a:xfrm>
          <a:prstGeom prst="rect">
            <a:avLst/>
          </a:prstGeom>
        </p:spPr>
      </p:pic>
    </p:spTree>
    <p:extLst>
      <p:ext uri="{BB962C8B-B14F-4D97-AF65-F5344CB8AC3E}">
        <p14:creationId xmlns:p14="http://schemas.microsoft.com/office/powerpoint/2010/main" val="92953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4BB35443-6026-8BC5-6BB2-67B7296F4E96}"/>
              </a:ext>
            </a:extLst>
          </p:cNvPr>
          <p:cNvSpPr txBox="1"/>
          <p:nvPr/>
        </p:nvSpPr>
        <p:spPr>
          <a:xfrm>
            <a:off x="6133440" y="2183048"/>
            <a:ext cx="4049057" cy="923330"/>
          </a:xfrm>
          <a:prstGeom prst="rect">
            <a:avLst/>
          </a:prstGeom>
          <a:noFill/>
        </p:spPr>
        <p:txBody>
          <a:bodyPr wrap="none" rtlCol="0">
            <a:spAutoFit/>
          </a:bodyPr>
          <a:lstStyle/>
          <a:p>
            <a:pPr algn="l"/>
            <a:r>
              <a:rPr lang="fr-FR" b="1" i="0" u="none" strike="noStrike" dirty="0">
                <a:solidFill>
                  <a:srgbClr val="000000"/>
                </a:solidFill>
                <a:effectLst/>
                <a:latin typeface="Gill Sans MT (Corps)"/>
              </a:rPr>
              <a:t>Variables :</a:t>
            </a:r>
          </a:p>
          <a:p>
            <a:pPr algn="l">
              <a:buFont typeface="Arial" panose="020B0604020202020204" pitchFamily="34" charset="0"/>
              <a:buChar char="•"/>
            </a:pPr>
            <a:r>
              <a:rPr lang="fr-FR" i="0" u="none" strike="noStrike" dirty="0">
                <a:solidFill>
                  <a:srgbClr val="000000"/>
                </a:solidFill>
                <a:effectLst/>
                <a:latin typeface="Gill Sans MT (Corps)"/>
              </a:rPr>
              <a:t> Âge : variable quantitative  </a:t>
            </a:r>
          </a:p>
          <a:p>
            <a:pPr algn="l">
              <a:buFont typeface="Arial" panose="020B0604020202020204" pitchFamily="34" charset="0"/>
              <a:buChar char="•"/>
            </a:pPr>
            <a:r>
              <a:rPr lang="fr-FR" sz="1800" i="0" u="none" strike="noStrike" dirty="0">
                <a:solidFill>
                  <a:srgbClr val="000000"/>
                </a:solidFill>
                <a:effectLst/>
                <a:latin typeface="Gill Sans MT (Corps)"/>
              </a:rPr>
              <a:t> Fréquence d’achat </a:t>
            </a:r>
            <a:r>
              <a:rPr lang="fr-FR" i="0" u="none" strike="noStrike" dirty="0">
                <a:solidFill>
                  <a:srgbClr val="000000"/>
                </a:solidFill>
                <a:effectLst/>
                <a:latin typeface="Gill Sans MT (Corps)"/>
              </a:rPr>
              <a:t>: variable quantitative</a:t>
            </a:r>
          </a:p>
        </p:txBody>
      </p:sp>
      <p:sp>
        <p:nvSpPr>
          <p:cNvPr id="10" name="ZoneTexte 9">
            <a:extLst>
              <a:ext uri="{FF2B5EF4-FFF2-40B4-BE49-F238E27FC236}">
                <a16:creationId xmlns:a16="http://schemas.microsoft.com/office/drawing/2014/main" id="{C98DEA13-0D3A-9A26-68DE-87BB7384984E}"/>
              </a:ext>
            </a:extLst>
          </p:cNvPr>
          <p:cNvSpPr txBox="1"/>
          <p:nvPr/>
        </p:nvSpPr>
        <p:spPr>
          <a:xfrm>
            <a:off x="6133440" y="3261997"/>
            <a:ext cx="4229099" cy="1200329"/>
          </a:xfrm>
          <a:prstGeom prst="rect">
            <a:avLst/>
          </a:prstGeom>
          <a:noFill/>
        </p:spPr>
        <p:txBody>
          <a:bodyPr wrap="square" rtlCol="0">
            <a:spAutoFit/>
          </a:bodyPr>
          <a:lstStyle/>
          <a:p>
            <a:r>
              <a:rPr lang="fr-FR" b="0" i="0" u="none" strike="noStrike" dirty="0">
                <a:solidFill>
                  <a:srgbClr val="000000"/>
                </a:solidFill>
                <a:effectLst/>
                <a:latin typeface="Gill Sans MT (Corps)"/>
              </a:rPr>
              <a:t>Choix du test : </a:t>
            </a:r>
            <a:r>
              <a:rPr lang="fr-FR" b="1" i="0" u="sng" strike="noStrike" dirty="0">
                <a:solidFill>
                  <a:srgbClr val="000000"/>
                </a:solidFill>
                <a:effectLst/>
                <a:latin typeface="Gill Sans MT (Corps)"/>
              </a:rPr>
              <a:t>Spearman</a:t>
            </a:r>
            <a:r>
              <a:rPr lang="fr-FR" b="0" i="0" u="none" strike="noStrike" dirty="0">
                <a:solidFill>
                  <a:srgbClr val="000000"/>
                </a:solidFill>
                <a:effectLst/>
                <a:latin typeface="Gill Sans MT (Corps)"/>
              </a:rPr>
              <a:t> préféré car absence de relation linéaire et forte dispersion</a:t>
            </a:r>
          </a:p>
          <a:p>
            <a:r>
              <a:rPr lang="fr-FR" b="0" i="0" u="none" strike="noStrike" dirty="0">
                <a:solidFill>
                  <a:srgbClr val="000000"/>
                </a:solidFill>
                <a:effectLst/>
                <a:latin typeface="Gill Sans MT (Corps)"/>
              </a:rPr>
              <a:t> </a:t>
            </a:r>
            <a:endParaRPr lang="fr-FR" u="sng" dirty="0">
              <a:latin typeface="Gill Sans MT (Corps)"/>
            </a:endParaRPr>
          </a:p>
        </p:txBody>
      </p:sp>
      <p:sp>
        <p:nvSpPr>
          <p:cNvPr id="12" name="ZoneTexte 11">
            <a:extLst>
              <a:ext uri="{FF2B5EF4-FFF2-40B4-BE49-F238E27FC236}">
                <a16:creationId xmlns:a16="http://schemas.microsoft.com/office/drawing/2014/main" id="{15A3DC92-C70B-3B48-AC42-ADE58AC86625}"/>
              </a:ext>
            </a:extLst>
          </p:cNvPr>
          <p:cNvSpPr txBox="1"/>
          <p:nvPr/>
        </p:nvSpPr>
        <p:spPr>
          <a:xfrm>
            <a:off x="6133440" y="4349531"/>
            <a:ext cx="5273453" cy="1477328"/>
          </a:xfrm>
          <a:prstGeom prst="rect">
            <a:avLst/>
          </a:prstGeom>
          <a:noFill/>
        </p:spPr>
        <p:txBody>
          <a:bodyPr wrap="square">
            <a:spAutoFit/>
          </a:bodyPr>
          <a:lstStyle/>
          <a:p>
            <a:r>
              <a:rPr lang="fr-FR" sz="1800" b="1" i="0" u="none" strike="noStrike" dirty="0">
                <a:solidFill>
                  <a:srgbClr val="000000"/>
                </a:solidFill>
                <a:effectLst/>
              </a:rPr>
              <a:t>Interprétation</a:t>
            </a:r>
            <a:r>
              <a:rPr lang="fr-FR" sz="1800" b="0" i="0" u="none" strike="noStrike" dirty="0">
                <a:solidFill>
                  <a:srgbClr val="000000"/>
                </a:solidFill>
                <a:effectLst/>
              </a:rPr>
              <a:t> : </a:t>
            </a:r>
            <a:r>
              <a:rPr lang="fr-FR" sz="1800" i="0" u="none" strike="noStrike" dirty="0">
                <a:solidFill>
                  <a:srgbClr val="000000"/>
                </a:solidFill>
                <a:effectLst/>
              </a:rPr>
              <a:t>Cette fois, la corrélation est faible mais positive et significative. Cela indique que les clients âgés ont légèrement tendance à acheter plus souvent, même si le chiffre d’affaires qu’ils génèrent est moindre.</a:t>
            </a:r>
          </a:p>
        </p:txBody>
      </p:sp>
      <p:pic>
        <p:nvPicPr>
          <p:cNvPr id="14" name="Image 13">
            <a:extLst>
              <a:ext uri="{FF2B5EF4-FFF2-40B4-BE49-F238E27FC236}">
                <a16:creationId xmlns:a16="http://schemas.microsoft.com/office/drawing/2014/main" id="{938E3EFF-DA54-C462-DB78-0425286E9D56}"/>
              </a:ext>
            </a:extLst>
          </p:cNvPr>
          <p:cNvPicPr>
            <a:picLocks noChangeAspect="1"/>
          </p:cNvPicPr>
          <p:nvPr/>
        </p:nvPicPr>
        <p:blipFill>
          <a:blip r:embed="rId2"/>
          <a:stretch>
            <a:fillRect/>
          </a:stretch>
        </p:blipFill>
        <p:spPr>
          <a:xfrm>
            <a:off x="442451" y="2071908"/>
            <a:ext cx="5145327" cy="3754951"/>
          </a:xfrm>
          <a:prstGeom prst="rect">
            <a:avLst/>
          </a:prstGeom>
        </p:spPr>
      </p:pic>
      <p:pic>
        <p:nvPicPr>
          <p:cNvPr id="16" name="Image 15">
            <a:extLst>
              <a:ext uri="{FF2B5EF4-FFF2-40B4-BE49-F238E27FC236}">
                <a16:creationId xmlns:a16="http://schemas.microsoft.com/office/drawing/2014/main" id="{C369E3C1-8022-B0C7-BA1F-68F99EEE1772}"/>
              </a:ext>
            </a:extLst>
          </p:cNvPr>
          <p:cNvPicPr>
            <a:picLocks noChangeAspect="1"/>
          </p:cNvPicPr>
          <p:nvPr/>
        </p:nvPicPr>
        <p:blipFill>
          <a:blip r:embed="rId3"/>
          <a:stretch>
            <a:fillRect/>
          </a:stretch>
        </p:blipFill>
        <p:spPr>
          <a:xfrm>
            <a:off x="7273189" y="836296"/>
            <a:ext cx="3497692" cy="228607"/>
          </a:xfrm>
          <a:prstGeom prst="rect">
            <a:avLst/>
          </a:prstGeom>
        </p:spPr>
      </p:pic>
      <p:sp>
        <p:nvSpPr>
          <p:cNvPr id="3" name="Espace réservé du numéro de diapositive 2">
            <a:extLst>
              <a:ext uri="{FF2B5EF4-FFF2-40B4-BE49-F238E27FC236}">
                <a16:creationId xmlns:a16="http://schemas.microsoft.com/office/drawing/2014/main" id="{E0BB6D02-3245-8CC6-C468-E7ED01A45790}"/>
              </a:ext>
            </a:extLst>
          </p:cNvPr>
          <p:cNvSpPr>
            <a:spLocks noGrp="1"/>
          </p:cNvSpPr>
          <p:nvPr>
            <p:ph type="sldNum" sz="quarter" idx="12"/>
          </p:nvPr>
        </p:nvSpPr>
        <p:spPr/>
        <p:txBody>
          <a:bodyPr/>
          <a:lstStyle/>
          <a:p>
            <a:fld id="{5CA0101B-2B22-AF40-9AC3-C0A9D8EDFEB1}" type="slidenum">
              <a:rPr lang="fr-FR" smtClean="0"/>
              <a:t>20</a:t>
            </a:fld>
            <a:endParaRPr lang="fr-FR"/>
          </a:p>
        </p:txBody>
      </p:sp>
      <p:sp>
        <p:nvSpPr>
          <p:cNvPr id="7" name="Titre 1">
            <a:extLst>
              <a:ext uri="{FF2B5EF4-FFF2-40B4-BE49-F238E27FC236}">
                <a16:creationId xmlns:a16="http://schemas.microsoft.com/office/drawing/2014/main" id="{F49EAFE6-76AA-CEE4-839A-6D1B3BBBAA01}"/>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a:t>Existe-t-il un LIEN entre l'âge du client et la Fréquence d’achat?</a:t>
            </a:r>
          </a:p>
        </p:txBody>
      </p:sp>
      <p:pic>
        <p:nvPicPr>
          <p:cNvPr id="13" name="Image 12">
            <a:extLst>
              <a:ext uri="{FF2B5EF4-FFF2-40B4-BE49-F238E27FC236}">
                <a16:creationId xmlns:a16="http://schemas.microsoft.com/office/drawing/2014/main" id="{4F21B5FB-75B6-D7C3-2056-21FE79843544}"/>
              </a:ext>
            </a:extLst>
          </p:cNvPr>
          <p:cNvPicPr>
            <a:picLocks noChangeAspect="1"/>
          </p:cNvPicPr>
          <p:nvPr/>
        </p:nvPicPr>
        <p:blipFill>
          <a:blip r:embed="rId4"/>
          <a:stretch>
            <a:fillRect/>
          </a:stretch>
        </p:blipFill>
        <p:spPr>
          <a:xfrm>
            <a:off x="1807165" y="5939183"/>
            <a:ext cx="2933954" cy="167655"/>
          </a:xfrm>
          <a:prstGeom prst="rect">
            <a:avLst/>
          </a:prstGeom>
        </p:spPr>
      </p:pic>
    </p:spTree>
    <p:extLst>
      <p:ext uri="{BB962C8B-B14F-4D97-AF65-F5344CB8AC3E}">
        <p14:creationId xmlns:p14="http://schemas.microsoft.com/office/powerpoint/2010/main" val="3367486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ZoneTexte 11">
            <a:extLst>
              <a:ext uri="{FF2B5EF4-FFF2-40B4-BE49-F238E27FC236}">
                <a16:creationId xmlns:a16="http://schemas.microsoft.com/office/drawing/2014/main" id="{71D151A7-BAA5-F905-1FCE-57CC23D03791}"/>
              </a:ext>
            </a:extLst>
          </p:cNvPr>
          <p:cNvSpPr txBox="1"/>
          <p:nvPr/>
        </p:nvSpPr>
        <p:spPr>
          <a:xfrm>
            <a:off x="446000" y="2110331"/>
            <a:ext cx="4419600" cy="1200329"/>
          </a:xfrm>
          <a:prstGeom prst="rect">
            <a:avLst/>
          </a:prstGeom>
          <a:noFill/>
        </p:spPr>
        <p:txBody>
          <a:bodyPr wrap="square">
            <a:spAutoFit/>
          </a:bodyPr>
          <a:lstStyle/>
          <a:p>
            <a:pPr algn="l"/>
            <a:r>
              <a:rPr lang="fr-FR" b="1" i="0" u="none" strike="noStrike" dirty="0">
                <a:solidFill>
                  <a:srgbClr val="000000"/>
                </a:solidFill>
                <a:effectLst/>
              </a:rPr>
              <a:t>Variables :</a:t>
            </a:r>
          </a:p>
          <a:p>
            <a:pPr algn="l">
              <a:buFont typeface="Arial" panose="020B0604020202020204" pitchFamily="34" charset="0"/>
              <a:buChar char="•"/>
            </a:pPr>
            <a:r>
              <a:rPr lang="fr-FR" i="0" u="none" strike="noStrike" dirty="0">
                <a:solidFill>
                  <a:srgbClr val="000000"/>
                </a:solidFill>
                <a:effectLst/>
              </a:rPr>
              <a:t> Âge : variable quantitative </a:t>
            </a:r>
            <a:endParaRPr lang="fr-FR" dirty="0">
              <a:solidFill>
                <a:srgbClr val="000000"/>
              </a:solidFill>
            </a:endParaRPr>
          </a:p>
          <a:p>
            <a:pPr algn="l">
              <a:buFont typeface="Arial" panose="020B0604020202020204" pitchFamily="34" charset="0"/>
              <a:buChar char="•"/>
            </a:pPr>
            <a:r>
              <a:rPr lang="fr-FR" i="0" u="none" strike="noStrike" dirty="0">
                <a:solidFill>
                  <a:srgbClr val="000000"/>
                </a:solidFill>
                <a:effectLst/>
              </a:rPr>
              <a:t> Taille Panier moyen: variable quantitative</a:t>
            </a:r>
          </a:p>
          <a:p>
            <a:endParaRPr lang="fr-FR" dirty="0"/>
          </a:p>
        </p:txBody>
      </p:sp>
      <p:sp>
        <p:nvSpPr>
          <p:cNvPr id="21" name="ZoneTexte 20">
            <a:extLst>
              <a:ext uri="{FF2B5EF4-FFF2-40B4-BE49-F238E27FC236}">
                <a16:creationId xmlns:a16="http://schemas.microsoft.com/office/drawing/2014/main" id="{9578E756-A6ED-B6CC-9FD9-1552157668F7}"/>
              </a:ext>
            </a:extLst>
          </p:cNvPr>
          <p:cNvSpPr txBox="1"/>
          <p:nvPr/>
        </p:nvSpPr>
        <p:spPr>
          <a:xfrm>
            <a:off x="446000" y="3085676"/>
            <a:ext cx="5520680" cy="923330"/>
          </a:xfrm>
          <a:prstGeom prst="rect">
            <a:avLst/>
          </a:prstGeom>
          <a:noFill/>
        </p:spPr>
        <p:txBody>
          <a:bodyPr wrap="square" rtlCol="0">
            <a:spAutoFit/>
          </a:bodyPr>
          <a:lstStyle/>
          <a:p>
            <a:r>
              <a:rPr lang="fr-FR" b="0" i="0" u="none" strike="noStrike" dirty="0">
                <a:solidFill>
                  <a:srgbClr val="000000"/>
                </a:solidFill>
                <a:effectLst/>
                <a:latin typeface="Gill Sans MT (Corps)"/>
              </a:rPr>
              <a:t>Choix du test : </a:t>
            </a:r>
            <a:r>
              <a:rPr lang="fr-FR" b="1" i="0" u="sng" strike="noStrike" dirty="0">
                <a:solidFill>
                  <a:srgbClr val="000000"/>
                </a:solidFill>
                <a:effectLst/>
                <a:latin typeface="Gill Sans MT (Corps)"/>
              </a:rPr>
              <a:t>Spearman</a:t>
            </a:r>
            <a:r>
              <a:rPr lang="fr-FR" b="0" i="0" u="none" strike="noStrike" dirty="0">
                <a:solidFill>
                  <a:srgbClr val="000000"/>
                </a:solidFill>
                <a:effectLst/>
                <a:latin typeface="Gill Sans MT (Corps)"/>
              </a:rPr>
              <a:t> préféré car absence de relation linéaire et forte dispersion</a:t>
            </a:r>
          </a:p>
          <a:p>
            <a:endParaRPr lang="fr-FR" dirty="0">
              <a:latin typeface="Gill Sans MT (Corps)"/>
            </a:endParaRPr>
          </a:p>
        </p:txBody>
      </p:sp>
      <p:pic>
        <p:nvPicPr>
          <p:cNvPr id="4" name="Image 3">
            <a:extLst>
              <a:ext uri="{FF2B5EF4-FFF2-40B4-BE49-F238E27FC236}">
                <a16:creationId xmlns:a16="http://schemas.microsoft.com/office/drawing/2014/main" id="{366E793F-361A-FC96-C4F8-F39E6C0DDD97}"/>
              </a:ext>
            </a:extLst>
          </p:cNvPr>
          <p:cNvPicPr>
            <a:picLocks noChangeAspect="1"/>
          </p:cNvPicPr>
          <p:nvPr/>
        </p:nvPicPr>
        <p:blipFill>
          <a:blip r:embed="rId2"/>
          <a:stretch>
            <a:fillRect/>
          </a:stretch>
        </p:blipFill>
        <p:spPr>
          <a:xfrm>
            <a:off x="5966680" y="2110331"/>
            <a:ext cx="5644127" cy="3667481"/>
          </a:xfrm>
          <a:prstGeom prst="rect">
            <a:avLst/>
          </a:prstGeom>
        </p:spPr>
      </p:pic>
      <p:sp>
        <p:nvSpPr>
          <p:cNvPr id="8" name="ZoneTexte 7">
            <a:extLst>
              <a:ext uri="{FF2B5EF4-FFF2-40B4-BE49-F238E27FC236}">
                <a16:creationId xmlns:a16="http://schemas.microsoft.com/office/drawing/2014/main" id="{85E8299F-198F-0CF1-FAD1-291E2014BA29}"/>
              </a:ext>
            </a:extLst>
          </p:cNvPr>
          <p:cNvSpPr txBox="1"/>
          <p:nvPr/>
        </p:nvSpPr>
        <p:spPr>
          <a:xfrm>
            <a:off x="446000" y="3783789"/>
            <a:ext cx="5148555" cy="2308324"/>
          </a:xfrm>
          <a:prstGeom prst="rect">
            <a:avLst/>
          </a:prstGeom>
          <a:noFill/>
        </p:spPr>
        <p:txBody>
          <a:bodyPr wrap="square">
            <a:spAutoFit/>
          </a:bodyPr>
          <a:lstStyle/>
          <a:p>
            <a:r>
              <a:rPr lang="fr-FR" sz="1800" b="1" i="0" u="none" strike="noStrike" dirty="0">
                <a:solidFill>
                  <a:srgbClr val="000000"/>
                </a:solidFill>
                <a:effectLst/>
                <a:latin typeface="Gill Sans MT (Corps)"/>
              </a:rPr>
              <a:t>Interprétation</a:t>
            </a:r>
            <a:r>
              <a:rPr lang="fr-FR" sz="1800" b="0" i="0" u="none" strike="noStrike" dirty="0">
                <a:solidFill>
                  <a:srgbClr val="000000"/>
                </a:solidFill>
                <a:effectLst/>
                <a:latin typeface="Gill Sans MT (Corps)"/>
              </a:rPr>
              <a:t> : </a:t>
            </a:r>
            <a:r>
              <a:rPr lang="fr-FR" sz="1800" i="0" u="none" strike="noStrike" dirty="0">
                <a:solidFill>
                  <a:srgbClr val="000000"/>
                </a:solidFill>
                <a:effectLst/>
                <a:latin typeface="Gill Sans MT (Corps)"/>
              </a:rPr>
              <a:t>La corrélation est modérée, négative et significative. Cela suggère que les clients plus jeunes ont tendance à faire des achats plus élevés à chaque passage (panier moyen plus élevé), tandis que les clients plus âgés achètent plus souvent, mais pour des montants unitaires plus faibles. Cela peut refléter des habitudes d’achat différentes selon les tranches d’âge</a:t>
            </a:r>
            <a:endParaRPr lang="fr-FR" sz="1800" dirty="0">
              <a:latin typeface="Gill Sans MT (Corps)"/>
            </a:endParaRPr>
          </a:p>
        </p:txBody>
      </p:sp>
      <p:sp>
        <p:nvSpPr>
          <p:cNvPr id="3" name="Espace réservé du numéro de diapositive 2">
            <a:extLst>
              <a:ext uri="{FF2B5EF4-FFF2-40B4-BE49-F238E27FC236}">
                <a16:creationId xmlns:a16="http://schemas.microsoft.com/office/drawing/2014/main" id="{6665276F-6C93-2989-D309-28AC6F0D0C5E}"/>
              </a:ext>
            </a:extLst>
          </p:cNvPr>
          <p:cNvSpPr>
            <a:spLocks noGrp="1"/>
          </p:cNvSpPr>
          <p:nvPr>
            <p:ph type="sldNum" sz="quarter" idx="12"/>
          </p:nvPr>
        </p:nvSpPr>
        <p:spPr/>
        <p:txBody>
          <a:bodyPr/>
          <a:lstStyle/>
          <a:p>
            <a:fld id="{5CA0101B-2B22-AF40-9AC3-C0A9D8EDFEB1}" type="slidenum">
              <a:rPr lang="fr-FR" smtClean="0"/>
              <a:t>21</a:t>
            </a:fld>
            <a:endParaRPr lang="fr-FR"/>
          </a:p>
        </p:txBody>
      </p:sp>
      <p:pic>
        <p:nvPicPr>
          <p:cNvPr id="9" name="Image 8">
            <a:extLst>
              <a:ext uri="{FF2B5EF4-FFF2-40B4-BE49-F238E27FC236}">
                <a16:creationId xmlns:a16="http://schemas.microsoft.com/office/drawing/2014/main" id="{69461DEC-7699-2823-141E-5EFC9C151899}"/>
              </a:ext>
            </a:extLst>
          </p:cNvPr>
          <p:cNvPicPr>
            <a:picLocks noChangeAspect="1"/>
          </p:cNvPicPr>
          <p:nvPr/>
        </p:nvPicPr>
        <p:blipFill>
          <a:blip r:embed="rId3"/>
          <a:stretch>
            <a:fillRect/>
          </a:stretch>
        </p:blipFill>
        <p:spPr>
          <a:xfrm>
            <a:off x="7557856" y="5833960"/>
            <a:ext cx="2979678" cy="129551"/>
          </a:xfrm>
          <a:prstGeom prst="rect">
            <a:avLst/>
          </a:prstGeom>
        </p:spPr>
      </p:pic>
      <p:sp>
        <p:nvSpPr>
          <p:cNvPr id="13" name="Titre 1">
            <a:extLst>
              <a:ext uri="{FF2B5EF4-FFF2-40B4-BE49-F238E27FC236}">
                <a16:creationId xmlns:a16="http://schemas.microsoft.com/office/drawing/2014/main" id="{7D2FE793-9136-C9EB-2C93-009447B40D4D}"/>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b="1" dirty="0"/>
              <a:t>Existe-t-il UN LIEN entre l'âge du client et le panier moyen ?</a:t>
            </a:r>
            <a:endParaRPr lang="fr-FR" dirty="0">
              <a:effectLst/>
            </a:endParaRPr>
          </a:p>
        </p:txBody>
      </p:sp>
    </p:spTree>
    <p:extLst>
      <p:ext uri="{BB962C8B-B14F-4D97-AF65-F5344CB8AC3E}">
        <p14:creationId xmlns:p14="http://schemas.microsoft.com/office/powerpoint/2010/main" val="493487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5300B719-AE2F-688A-C440-BAB5C6F0F1A7}"/>
              </a:ext>
            </a:extLst>
          </p:cNvPr>
          <p:cNvSpPr txBox="1"/>
          <p:nvPr/>
        </p:nvSpPr>
        <p:spPr>
          <a:xfrm>
            <a:off x="5742878" y="3002406"/>
            <a:ext cx="5867930" cy="923330"/>
          </a:xfrm>
          <a:prstGeom prst="rect">
            <a:avLst/>
          </a:prstGeom>
          <a:noFill/>
        </p:spPr>
        <p:txBody>
          <a:bodyPr wrap="square" rtlCol="0">
            <a:spAutoFit/>
          </a:bodyPr>
          <a:lstStyle/>
          <a:p>
            <a:r>
              <a:rPr lang="fr-FR" i="0" u="none" strike="noStrike" dirty="0">
                <a:solidFill>
                  <a:srgbClr val="000000"/>
                </a:solidFill>
                <a:effectLst/>
                <a:latin typeface="Gill Sans MT (Corps)"/>
              </a:rPr>
              <a:t>Le test de Kruskal-Wallis est une alternative non paramétrique à l’ANOVA, utilisé ici car les âges ne suivent pas une loi normale (vérifié par test de Shapiro)</a:t>
            </a:r>
            <a:endParaRPr lang="fr-FR" dirty="0">
              <a:latin typeface="Gill Sans MT (Corps)"/>
            </a:endParaRPr>
          </a:p>
        </p:txBody>
      </p:sp>
      <p:sp>
        <p:nvSpPr>
          <p:cNvPr id="9" name="ZoneTexte 8">
            <a:extLst>
              <a:ext uri="{FF2B5EF4-FFF2-40B4-BE49-F238E27FC236}">
                <a16:creationId xmlns:a16="http://schemas.microsoft.com/office/drawing/2014/main" id="{9457A582-D35D-912B-6922-E05BCB0EFE0D}"/>
              </a:ext>
            </a:extLst>
          </p:cNvPr>
          <p:cNvSpPr txBox="1"/>
          <p:nvPr/>
        </p:nvSpPr>
        <p:spPr>
          <a:xfrm>
            <a:off x="5742878" y="2079076"/>
            <a:ext cx="3306931" cy="923330"/>
          </a:xfrm>
          <a:prstGeom prst="rect">
            <a:avLst/>
          </a:prstGeom>
          <a:noFill/>
        </p:spPr>
        <p:txBody>
          <a:bodyPr wrap="none" rtlCol="0">
            <a:spAutoFit/>
          </a:bodyPr>
          <a:lstStyle/>
          <a:p>
            <a:pPr algn="l"/>
            <a:r>
              <a:rPr lang="fr-FR" b="1" i="0" u="none" strike="noStrike" dirty="0">
                <a:solidFill>
                  <a:srgbClr val="000000"/>
                </a:solidFill>
                <a:effectLst/>
              </a:rPr>
              <a:t>Variables :</a:t>
            </a:r>
          </a:p>
          <a:p>
            <a:pPr algn="l">
              <a:buFont typeface="Arial" panose="020B0604020202020204" pitchFamily="34" charset="0"/>
              <a:buChar char="•"/>
            </a:pPr>
            <a:r>
              <a:rPr lang="fr-FR" b="1" i="0" u="none" strike="noStrike" dirty="0">
                <a:solidFill>
                  <a:srgbClr val="000000"/>
                </a:solidFill>
                <a:effectLst/>
              </a:rPr>
              <a:t> </a:t>
            </a:r>
            <a:r>
              <a:rPr lang="fr-FR" i="0" u="none" strike="noStrike" dirty="0">
                <a:solidFill>
                  <a:srgbClr val="000000"/>
                </a:solidFill>
                <a:effectLst/>
              </a:rPr>
              <a:t>Âge : variable quantitative </a:t>
            </a:r>
          </a:p>
          <a:p>
            <a:pPr>
              <a:buFont typeface="Arial" panose="020B0604020202020204" pitchFamily="34" charset="0"/>
              <a:buChar char="•"/>
            </a:pPr>
            <a:r>
              <a:rPr lang="fr-FR" sz="1800" dirty="0">
                <a:solidFill>
                  <a:srgbClr val="000000"/>
                </a:solidFill>
              </a:rPr>
              <a:t> Catégorie de livres</a:t>
            </a:r>
            <a:r>
              <a:rPr lang="fr-FR" i="0" u="none" strike="noStrike" dirty="0">
                <a:solidFill>
                  <a:srgbClr val="000000"/>
                </a:solidFill>
                <a:effectLst/>
              </a:rPr>
              <a:t>: qualitative</a:t>
            </a:r>
          </a:p>
        </p:txBody>
      </p:sp>
      <p:pic>
        <p:nvPicPr>
          <p:cNvPr id="10" name="Image 9">
            <a:extLst>
              <a:ext uri="{FF2B5EF4-FFF2-40B4-BE49-F238E27FC236}">
                <a16:creationId xmlns:a16="http://schemas.microsoft.com/office/drawing/2014/main" id="{CA961120-05CC-23BC-6A68-D88042BDB821}"/>
              </a:ext>
            </a:extLst>
          </p:cNvPr>
          <p:cNvPicPr>
            <a:picLocks noChangeAspect="1"/>
          </p:cNvPicPr>
          <p:nvPr/>
        </p:nvPicPr>
        <p:blipFill>
          <a:blip r:embed="rId2"/>
          <a:stretch>
            <a:fillRect/>
          </a:stretch>
        </p:blipFill>
        <p:spPr>
          <a:xfrm>
            <a:off x="256799" y="1868523"/>
            <a:ext cx="5353050" cy="3239989"/>
          </a:xfrm>
          <a:prstGeom prst="rect">
            <a:avLst/>
          </a:prstGeom>
        </p:spPr>
      </p:pic>
      <p:sp>
        <p:nvSpPr>
          <p:cNvPr id="19" name="ZoneTexte 18">
            <a:extLst>
              <a:ext uri="{FF2B5EF4-FFF2-40B4-BE49-F238E27FC236}">
                <a16:creationId xmlns:a16="http://schemas.microsoft.com/office/drawing/2014/main" id="{F74D5C12-1E23-79E3-9122-F3617CEC99F2}"/>
              </a:ext>
            </a:extLst>
          </p:cNvPr>
          <p:cNvSpPr txBox="1"/>
          <p:nvPr/>
        </p:nvSpPr>
        <p:spPr>
          <a:xfrm>
            <a:off x="316125" y="5108512"/>
            <a:ext cx="5293724" cy="1477328"/>
          </a:xfrm>
          <a:prstGeom prst="rect">
            <a:avLst/>
          </a:prstGeom>
          <a:noFill/>
        </p:spPr>
        <p:txBody>
          <a:bodyPr wrap="square">
            <a:spAutoFit/>
          </a:bodyPr>
          <a:lstStyle/>
          <a:p>
            <a:r>
              <a:rPr lang="fr-FR" b="1" dirty="0"/>
              <a:t>Interprétation</a:t>
            </a:r>
            <a:r>
              <a:rPr lang="fr-FR" dirty="0"/>
              <a:t> :</a:t>
            </a:r>
            <a:br>
              <a:rPr lang="fr-FR" dirty="0"/>
            </a:br>
            <a:r>
              <a:rPr lang="fr-FR" dirty="0"/>
              <a:t>Il y a une différence significative d’âge entre au moins deux catégories de livres</a:t>
            </a:r>
            <a:br>
              <a:rPr lang="fr-FR" dirty="0"/>
            </a:br>
            <a:r>
              <a:rPr lang="fr-FR" dirty="0"/>
              <a:t>Le type de livre préféré varie selon l’âge des clients</a:t>
            </a:r>
          </a:p>
          <a:p>
            <a:endParaRPr lang="fr-FR" i="0" u="none" strike="noStrike" dirty="0">
              <a:solidFill>
                <a:srgbClr val="000000"/>
              </a:solidFill>
              <a:effectLst/>
            </a:endParaRPr>
          </a:p>
        </p:txBody>
      </p:sp>
      <p:sp>
        <p:nvSpPr>
          <p:cNvPr id="21" name="ZoneTexte 20">
            <a:extLst>
              <a:ext uri="{FF2B5EF4-FFF2-40B4-BE49-F238E27FC236}">
                <a16:creationId xmlns:a16="http://schemas.microsoft.com/office/drawing/2014/main" id="{9CE6F337-AE60-138A-213F-FBAE413C3366}"/>
              </a:ext>
            </a:extLst>
          </p:cNvPr>
          <p:cNvSpPr txBox="1"/>
          <p:nvPr/>
        </p:nvSpPr>
        <p:spPr>
          <a:xfrm>
            <a:off x="5609849" y="5108512"/>
            <a:ext cx="6119811" cy="1200329"/>
          </a:xfrm>
          <a:prstGeom prst="rect">
            <a:avLst/>
          </a:prstGeom>
          <a:noFill/>
        </p:spPr>
        <p:txBody>
          <a:bodyPr wrap="square">
            <a:spAutoFit/>
          </a:bodyPr>
          <a:lstStyle/>
          <a:p>
            <a:r>
              <a:rPr lang="fr-FR" i="0" u="none" strike="noStrike" dirty="0">
                <a:solidFill>
                  <a:srgbClr val="000000"/>
                </a:solidFill>
                <a:effectLst/>
              </a:rPr>
              <a:t>Les préférences de lecture varient fortement selon l’âge :</a:t>
            </a:r>
          </a:p>
          <a:p>
            <a:pPr algn="l">
              <a:buFont typeface="Arial" panose="020B0604020202020204" pitchFamily="34" charset="0"/>
              <a:buChar char="•"/>
            </a:pPr>
            <a:r>
              <a:rPr lang="fr-FR" i="0" u="none" strike="noStrike" dirty="0">
                <a:solidFill>
                  <a:srgbClr val="000000"/>
                </a:solidFill>
                <a:effectLst/>
              </a:rPr>
              <a:t> Les jeunes préfèrent la catégorie 2</a:t>
            </a:r>
          </a:p>
          <a:p>
            <a:pPr algn="l">
              <a:buFont typeface="Arial" panose="020B0604020202020204" pitchFamily="34" charset="0"/>
              <a:buChar char="•"/>
            </a:pPr>
            <a:r>
              <a:rPr lang="fr-FR" i="0" u="none" strike="noStrike" dirty="0">
                <a:solidFill>
                  <a:srgbClr val="000000"/>
                </a:solidFill>
                <a:effectLst/>
              </a:rPr>
              <a:t> Les adultes s’orientent vers la catégorie 0</a:t>
            </a:r>
          </a:p>
          <a:p>
            <a:pPr algn="l">
              <a:buFont typeface="Arial" panose="020B0604020202020204" pitchFamily="34" charset="0"/>
              <a:buChar char="•"/>
            </a:pPr>
            <a:r>
              <a:rPr lang="fr-FR" i="0" u="none" strike="noStrike" dirty="0">
                <a:solidFill>
                  <a:srgbClr val="000000"/>
                </a:solidFill>
                <a:effectLst/>
              </a:rPr>
              <a:t> Les clients plus âgés s’intéressent davantage à la catégorie 1</a:t>
            </a:r>
          </a:p>
        </p:txBody>
      </p:sp>
      <p:sp>
        <p:nvSpPr>
          <p:cNvPr id="23" name="ZoneTexte 22">
            <a:extLst>
              <a:ext uri="{FF2B5EF4-FFF2-40B4-BE49-F238E27FC236}">
                <a16:creationId xmlns:a16="http://schemas.microsoft.com/office/drawing/2014/main" id="{DCF47B0F-E8EF-B7BC-EDB4-09B9DFBF5A37}"/>
              </a:ext>
            </a:extLst>
          </p:cNvPr>
          <p:cNvSpPr txBox="1"/>
          <p:nvPr/>
        </p:nvSpPr>
        <p:spPr>
          <a:xfrm>
            <a:off x="5742878" y="4014088"/>
            <a:ext cx="6119812" cy="820674"/>
          </a:xfrm>
          <a:prstGeom prst="rect">
            <a:avLst/>
          </a:prstGeom>
          <a:noFill/>
        </p:spPr>
        <p:txBody>
          <a:bodyPr wrap="square">
            <a:spAutoFit/>
          </a:bodyPr>
          <a:lstStyle/>
          <a:p>
            <a:pPr>
              <a:lnSpc>
                <a:spcPts val="1425"/>
              </a:lnSpc>
              <a:buNone/>
            </a:pPr>
            <a:r>
              <a:rPr lang="fr-FR" dirty="0"/>
              <a:t>P-value ≈ 0 =&gt; Différences hautement significatives entre groupes</a:t>
            </a:r>
          </a:p>
          <a:p>
            <a:pPr>
              <a:lnSpc>
                <a:spcPts val="1425"/>
              </a:lnSpc>
              <a:buNone/>
            </a:pPr>
            <a:endParaRPr lang="fr-FR" dirty="0"/>
          </a:p>
          <a:p>
            <a:pPr>
              <a:lnSpc>
                <a:spcPts val="1425"/>
              </a:lnSpc>
            </a:pPr>
            <a:r>
              <a:rPr lang="fr-FR" dirty="0"/>
              <a:t>=&gt; Les groupes ont des comportements distincts</a:t>
            </a:r>
          </a:p>
        </p:txBody>
      </p:sp>
      <p:sp>
        <p:nvSpPr>
          <p:cNvPr id="3" name="Espace réservé du numéro de diapositive 2">
            <a:extLst>
              <a:ext uri="{FF2B5EF4-FFF2-40B4-BE49-F238E27FC236}">
                <a16:creationId xmlns:a16="http://schemas.microsoft.com/office/drawing/2014/main" id="{6E4B9AB0-11F6-DE08-6C64-49E307C1C9B0}"/>
              </a:ext>
            </a:extLst>
          </p:cNvPr>
          <p:cNvSpPr>
            <a:spLocks noGrp="1"/>
          </p:cNvSpPr>
          <p:nvPr>
            <p:ph type="sldNum" sz="quarter" idx="12"/>
          </p:nvPr>
        </p:nvSpPr>
        <p:spPr/>
        <p:txBody>
          <a:bodyPr/>
          <a:lstStyle/>
          <a:p>
            <a:fld id="{5CA0101B-2B22-AF40-9AC3-C0A9D8EDFEB1}" type="slidenum">
              <a:rPr lang="fr-FR" smtClean="0"/>
              <a:t>22</a:t>
            </a:fld>
            <a:endParaRPr lang="fr-FR"/>
          </a:p>
        </p:txBody>
      </p:sp>
      <p:sp>
        <p:nvSpPr>
          <p:cNvPr id="6" name="Titre 1">
            <a:extLst>
              <a:ext uri="{FF2B5EF4-FFF2-40B4-BE49-F238E27FC236}">
                <a16:creationId xmlns:a16="http://schemas.microsoft.com/office/drawing/2014/main" id="{6C9F7C5E-22A5-2E80-44CA-1156E7287C22}"/>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dirty="0"/>
              <a:t>Âge par catégorie de livres</a:t>
            </a:r>
            <a:endParaRPr lang="fr-FR" dirty="0">
              <a:effectLst/>
            </a:endParaRPr>
          </a:p>
        </p:txBody>
      </p:sp>
    </p:spTree>
    <p:extLst>
      <p:ext uri="{BB962C8B-B14F-4D97-AF65-F5344CB8AC3E}">
        <p14:creationId xmlns:p14="http://schemas.microsoft.com/office/powerpoint/2010/main" val="445207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EA23526-2E3F-5174-D470-D010680FFF72}"/>
              </a:ext>
            </a:extLst>
          </p:cNvPr>
          <p:cNvSpPr>
            <a:spLocks noGrp="1"/>
          </p:cNvSpPr>
          <p:nvPr>
            <p:ph idx="1"/>
          </p:nvPr>
        </p:nvSpPr>
        <p:spPr>
          <a:xfrm>
            <a:off x="448597" y="2096635"/>
            <a:ext cx="10515600" cy="4351338"/>
          </a:xfrm>
        </p:spPr>
        <p:txBody>
          <a:bodyPr>
            <a:normAutofit lnSpcReduction="10000"/>
          </a:bodyPr>
          <a:lstStyle/>
          <a:p>
            <a:pPr marL="0" indent="0" algn="l">
              <a:buNone/>
            </a:pPr>
            <a:r>
              <a:rPr lang="fr-FR" sz="2200" b="1" u="sng" strike="noStrike" dirty="0">
                <a:solidFill>
                  <a:srgbClr val="000000"/>
                </a:solidFill>
                <a:effectLst/>
              </a:rPr>
              <a:t>Notre analyse révèle que :</a:t>
            </a:r>
          </a:p>
          <a:p>
            <a:pPr marL="0" indent="0" algn="l">
              <a:buNone/>
            </a:pPr>
            <a:endParaRPr lang="fr-FR" u="sng" strike="noStrike" dirty="0">
              <a:solidFill>
                <a:srgbClr val="000000"/>
              </a:solidFill>
              <a:effectLst/>
            </a:endParaRPr>
          </a:p>
          <a:p>
            <a:pPr algn="l">
              <a:buFont typeface="Arial" panose="020B0604020202020204" pitchFamily="34" charset="0"/>
              <a:buChar char="•"/>
            </a:pPr>
            <a:r>
              <a:rPr lang="fr-FR" strike="noStrike" dirty="0">
                <a:solidFill>
                  <a:srgbClr val="000000"/>
                </a:solidFill>
                <a:effectLst/>
              </a:rPr>
              <a:t>La Catégorie 0</a:t>
            </a:r>
            <a:r>
              <a:rPr lang="fr-FR" dirty="0">
                <a:solidFill>
                  <a:srgbClr val="000000"/>
                </a:solidFill>
              </a:rPr>
              <a:t>,</a:t>
            </a:r>
            <a:r>
              <a:rPr lang="fr-FR" strike="noStrike" dirty="0">
                <a:solidFill>
                  <a:srgbClr val="000000"/>
                </a:solidFill>
                <a:effectLst/>
              </a:rPr>
              <a:t> bien que très vendue, génère peu de chiffre d'affaires à cause de ses prix bas</a:t>
            </a:r>
          </a:p>
          <a:p>
            <a:pPr algn="l">
              <a:buFont typeface="Arial" panose="020B0604020202020204" pitchFamily="34" charset="0"/>
              <a:buChar char="•"/>
            </a:pPr>
            <a:endParaRPr lang="fr-FR" strike="noStrike" dirty="0">
              <a:solidFill>
                <a:srgbClr val="000000"/>
              </a:solidFill>
              <a:effectLst/>
            </a:endParaRPr>
          </a:p>
          <a:p>
            <a:pPr algn="l">
              <a:buFont typeface="Arial" panose="020B0604020202020204" pitchFamily="34" charset="0"/>
              <a:buChar char="•"/>
            </a:pPr>
            <a:r>
              <a:rPr lang="fr-FR" strike="noStrike" dirty="0">
                <a:solidFill>
                  <a:srgbClr val="000000"/>
                </a:solidFill>
                <a:effectLst/>
              </a:rPr>
              <a:t>Le chiffre d'affaires est concentré sur une minorité de clients (Gini = 0.44)</a:t>
            </a:r>
          </a:p>
          <a:p>
            <a:pPr algn="l">
              <a:buFont typeface="Arial" panose="020B0604020202020204" pitchFamily="34" charset="0"/>
              <a:buChar char="•"/>
            </a:pPr>
            <a:endParaRPr lang="fr-FR" strike="noStrike" dirty="0">
              <a:solidFill>
                <a:srgbClr val="000000"/>
              </a:solidFill>
              <a:effectLst/>
            </a:endParaRPr>
          </a:p>
          <a:p>
            <a:pPr algn="l">
              <a:buFont typeface="Arial" panose="020B0604020202020204" pitchFamily="34" charset="0"/>
              <a:buChar char="•"/>
            </a:pPr>
            <a:r>
              <a:rPr lang="fr-FR" strike="noStrike" dirty="0">
                <a:solidFill>
                  <a:srgbClr val="000000"/>
                </a:solidFill>
                <a:effectLst/>
              </a:rPr>
              <a:t>Le profil client influence les achats :</a:t>
            </a:r>
          </a:p>
          <a:p>
            <a:pPr marL="742950" lvl="1" indent="-285750" algn="l">
              <a:buFont typeface="Arial" panose="020B0604020202020204" pitchFamily="34" charset="0"/>
              <a:buChar char="•"/>
            </a:pPr>
            <a:r>
              <a:rPr lang="fr-FR" strike="noStrike" dirty="0">
                <a:solidFill>
                  <a:srgbClr val="000000"/>
                </a:solidFill>
                <a:effectLst/>
              </a:rPr>
              <a:t>Les jeunes privilégient les catégories plus chères</a:t>
            </a:r>
          </a:p>
          <a:p>
            <a:pPr marL="742950" lvl="1" indent="-285750" algn="l">
              <a:buFont typeface="Arial" panose="020B0604020202020204" pitchFamily="34" charset="0"/>
              <a:buChar char="•"/>
            </a:pPr>
            <a:r>
              <a:rPr lang="fr-FR" strike="noStrike" dirty="0">
                <a:solidFill>
                  <a:srgbClr val="000000"/>
                </a:solidFill>
                <a:effectLst/>
              </a:rPr>
              <a:t>Les plus âgés achètent plus souvent mais dépensent moins par achat</a:t>
            </a:r>
          </a:p>
          <a:p>
            <a:pPr marL="742950" lvl="1" indent="-285750" algn="l">
              <a:buFont typeface="Arial" panose="020B0604020202020204" pitchFamily="34" charset="0"/>
              <a:buChar char="•"/>
            </a:pPr>
            <a:endParaRPr lang="fr-FR" strike="noStrike" dirty="0">
              <a:solidFill>
                <a:srgbClr val="000000"/>
              </a:solidFill>
              <a:effectLst/>
            </a:endParaRPr>
          </a:p>
          <a:p>
            <a:pPr algn="l">
              <a:buFont typeface="Arial" panose="020B0604020202020204" pitchFamily="34" charset="0"/>
              <a:buChar char="•"/>
            </a:pPr>
            <a:r>
              <a:rPr lang="fr-FR" strike="noStrike" dirty="0">
                <a:solidFill>
                  <a:srgbClr val="000000"/>
                </a:solidFill>
                <a:effectLst/>
              </a:rPr>
              <a:t>Le genre a aussi un impact significatif sur les préférences de catégories</a:t>
            </a:r>
          </a:p>
          <a:p>
            <a:endParaRPr lang="fr-FR" dirty="0"/>
          </a:p>
        </p:txBody>
      </p:sp>
      <p:sp>
        <p:nvSpPr>
          <p:cNvPr id="4" name="Espace réservé du numéro de diapositive 3">
            <a:extLst>
              <a:ext uri="{FF2B5EF4-FFF2-40B4-BE49-F238E27FC236}">
                <a16:creationId xmlns:a16="http://schemas.microsoft.com/office/drawing/2014/main" id="{7F7E584F-1B1A-3947-A545-CEE627E4C35D}"/>
              </a:ext>
            </a:extLst>
          </p:cNvPr>
          <p:cNvSpPr>
            <a:spLocks noGrp="1"/>
          </p:cNvSpPr>
          <p:nvPr>
            <p:ph type="sldNum" sz="quarter" idx="12"/>
          </p:nvPr>
        </p:nvSpPr>
        <p:spPr/>
        <p:txBody>
          <a:bodyPr/>
          <a:lstStyle/>
          <a:p>
            <a:fld id="{5CA0101B-2B22-AF40-9AC3-C0A9D8EDFEB1}" type="slidenum">
              <a:rPr lang="fr-FR" smtClean="0"/>
              <a:t>23</a:t>
            </a:fld>
            <a:endParaRPr lang="fr-FR"/>
          </a:p>
        </p:txBody>
      </p:sp>
      <p:sp>
        <p:nvSpPr>
          <p:cNvPr id="7" name="Titre 1">
            <a:extLst>
              <a:ext uri="{FF2B5EF4-FFF2-40B4-BE49-F238E27FC236}">
                <a16:creationId xmlns:a16="http://schemas.microsoft.com/office/drawing/2014/main" id="{BF45B36C-7D17-8A79-B69E-FDD22701EF41}"/>
              </a:ext>
            </a:extLst>
          </p:cNvPr>
          <p:cNvSpPr txBox="1">
            <a:spLocks/>
          </p:cNvSpPr>
          <p:nvPr/>
        </p:nvSpPr>
        <p:spPr>
          <a:xfrm>
            <a:off x="442451" y="619432"/>
            <a:ext cx="11307097" cy="1150374"/>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fr-FR" dirty="0"/>
              <a:t>CONCLUSION</a:t>
            </a:r>
            <a:endParaRPr lang="fr-FR" dirty="0">
              <a:effectLst/>
            </a:endParaRPr>
          </a:p>
        </p:txBody>
      </p:sp>
    </p:spTree>
    <p:extLst>
      <p:ext uri="{BB962C8B-B14F-4D97-AF65-F5344CB8AC3E}">
        <p14:creationId xmlns:p14="http://schemas.microsoft.com/office/powerpoint/2010/main" val="2468816153"/>
      </p:ext>
    </p:extLst>
  </p:cSld>
  <p:clrMapOvr>
    <a:masterClrMapping/>
  </p:clrMapOvr>
</p:sld>
</file>

<file path=ppt/theme/theme1.xml><?xml version="1.0" encoding="utf-8"?>
<a:theme xmlns:a="http://schemas.openxmlformats.org/drawingml/2006/main" name="Dividende">
  <a:themeElements>
    <a:clrScheme name="Dividende">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e">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e">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7222825-62ea-40f3-96b5-5375c07996e2}" enabled="1" method="Privileged" siteId="{90c7a20a-f34b-40bf-bc48-b9253b6f5d20}" contentBits="0" removed="0"/>
</clbl:labelList>
</file>

<file path=docProps/app.xml><?xml version="1.0" encoding="utf-8"?>
<Properties xmlns="http://schemas.openxmlformats.org/officeDocument/2006/extended-properties" xmlns:vt="http://schemas.openxmlformats.org/officeDocument/2006/docPropsVTypes">
  <Template>TM03457464[[fn=Dividende]]</Template>
  <TotalTime>8400</TotalTime>
  <Words>1378</Words>
  <Application>Microsoft Office PowerPoint</Application>
  <PresentationFormat>Grand écran</PresentationFormat>
  <Paragraphs>174</Paragraphs>
  <Slides>23</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23</vt:i4>
      </vt:variant>
    </vt:vector>
  </HeadingPairs>
  <TitlesOfParts>
    <vt:vector size="29" baseType="lpstr">
      <vt:lpstr>Aptos</vt:lpstr>
      <vt:lpstr>Arial</vt:lpstr>
      <vt:lpstr>Gill Sans MT</vt:lpstr>
      <vt:lpstr>Gill Sans MT (Corps)</vt:lpstr>
      <vt:lpstr>Wingdings 2</vt:lpstr>
      <vt:lpstr>Dividende</vt:lpstr>
      <vt:lpstr>Présentation PowerPoint</vt:lpstr>
      <vt:lpstr>CONTEXTE ENTREPRISE</vt:lpstr>
      <vt:lpstr>Présentation PowerPoint</vt:lpstr>
      <vt:lpstr>Présentation PowerPoint</vt:lpstr>
      <vt:lpstr>Présentation PowerPoint</vt:lpstr>
      <vt:lpstr>Évolution du CA</vt:lpstr>
      <vt:lpstr>Répartition du CA par catégorie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Mission Data Analyst LaPage</dc:title>
  <dc:creator>Mac3</dc:creator>
  <cp:lastModifiedBy>ZAIDI Mohamed Hichem OW/FINANCE</cp:lastModifiedBy>
  <cp:revision>272</cp:revision>
  <dcterms:created xsi:type="dcterms:W3CDTF">2025-05-28T15:43:16Z</dcterms:created>
  <dcterms:modified xsi:type="dcterms:W3CDTF">2025-12-19T14:32:32Z</dcterms:modified>
</cp:coreProperties>
</file>